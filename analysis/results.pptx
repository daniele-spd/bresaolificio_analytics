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301" r:id="rId22"/>
    <p:sldId id="302" r:id="rId23"/>
    <p:sldId id="299" r:id="rId24"/>
    <p:sldId id="300" r:id="rId2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F654B78-91CD-4320-B26C-392C2FC09862}">
          <p14:sldIdLst>
            <p14:sldId id="256"/>
            <p14:sldId id="280"/>
            <p14:sldId id="281"/>
            <p14:sldId id="282"/>
            <p14:sldId id="283"/>
            <p14:sldId id="284"/>
          </p14:sldIdLst>
        </p14:section>
        <p14:section name="Prodotto" id="{4CC06362-106A-4520-9AF0-7DD102B09C14}">
          <p14:sldIdLst>
            <p14:sldId id="285"/>
            <p14:sldId id="286"/>
            <p14:sldId id="287"/>
            <p14:sldId id="288"/>
          </p14:sldIdLst>
        </p14:section>
        <p14:section name="Qualità" id="{1A842313-052E-4E9F-BEB3-A0F214C4E271}">
          <p14:sldIdLst>
            <p14:sldId id="289"/>
            <p14:sldId id="290"/>
            <p14:sldId id="291"/>
            <p14:sldId id="292"/>
          </p14:sldIdLst>
        </p14:section>
        <p14:section name="Fermi" id="{6AE01E5A-8E5A-4553-9020-7F02EB99B5C9}">
          <p14:sldIdLst>
            <p14:sldId id="293"/>
            <p14:sldId id="294"/>
            <p14:sldId id="295"/>
            <p14:sldId id="296"/>
          </p14:sldIdLst>
        </p14:section>
        <p14:section name="Riassunto e conclusioni" id="{A3A9003F-38FB-41E3-ACA2-EDC5582FD808}">
          <p14:sldIdLst>
            <p14:sldId id="297"/>
            <p14:sldId id="298"/>
            <p14:sldId id="301"/>
            <p14:sldId id="302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2234"/>
    <a:srgbClr val="00B4D8"/>
    <a:srgbClr val="2D37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06" autoAdjust="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0C613B-9C5B-47C2-B110-A24D618AF7F8}" type="doc">
      <dgm:prSet loTypeId="urn:microsoft.com/office/officeart/2005/8/layout/hierarchy2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D017179-C064-4250-9AB1-B785B5D9C32D}">
      <dgm:prSet phldrT="[Text]" phldr="0"/>
      <dgm:spPr/>
      <dgm:t>
        <a:bodyPr/>
        <a:lstStyle/>
        <a:p>
          <a:r>
            <a:rPr lang="it-IT" dirty="0">
              <a:latin typeface="Berlin Sans FB" panose="020E0602020502020306" pitchFamily="34" charset="0"/>
            </a:rPr>
            <a:t>Ammodernamento L3</a:t>
          </a:r>
        </a:p>
      </dgm:t>
    </dgm:pt>
    <dgm:pt modelId="{2DE873F5-684E-4AA8-A1BB-DCA0C2CC93B8}" type="parTrans" cxnId="{AB1E6C38-F03F-4CF5-8F66-00DAFCC047A4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DF21F3DB-1C3D-4ED3-8250-797458BD3713}" type="sibTrans" cxnId="{AB1E6C38-F03F-4CF5-8F66-00DAFCC047A4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8435DAC4-06CF-4D77-8E28-E61CA9EB82AA}">
      <dgm:prSet phldrT="[Text]" phldr="0"/>
      <dgm:spPr/>
      <dgm:t>
        <a:bodyPr/>
        <a:lstStyle/>
        <a:p>
          <a:r>
            <a:rPr lang="it-IT" dirty="0">
              <a:latin typeface="Berlin Sans FB" panose="020E0602020502020306" pitchFamily="34" charset="0"/>
            </a:rPr>
            <a:t>Stessa capacità produttiva</a:t>
          </a:r>
        </a:p>
      </dgm:t>
    </dgm:pt>
    <dgm:pt modelId="{FF51E9EE-4EBA-4B13-A4CD-068B773054C6}" type="parTrans" cxnId="{70FC4D7E-8919-4012-B7B4-54BD122F813A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D8FA124F-B1A6-45B1-8705-7B3EBD2109F8}" type="sibTrans" cxnId="{70FC4D7E-8919-4012-B7B4-54BD122F813A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07966F4F-61F8-434F-9705-A22094458DF6}">
      <dgm:prSet phldrT="[Text]"/>
      <dgm:spPr/>
      <dgm:t>
        <a:bodyPr/>
        <a:lstStyle/>
        <a:p>
          <a:r>
            <a:rPr lang="it-IT" dirty="0">
              <a:latin typeface="Berlin Sans FB" panose="020E0602020502020306" pitchFamily="34" charset="0"/>
            </a:rPr>
            <a:t>Scarti L3 come altre linee = </a:t>
          </a:r>
          <a:r>
            <a:rPr lang="it-IT" i="1" dirty="0" err="1">
              <a:latin typeface="Berlin Sans FB" panose="020E0602020502020306" pitchFamily="34" charset="0"/>
            </a:rPr>
            <a:t>saving</a:t>
          </a:r>
          <a:r>
            <a:rPr lang="it-IT" dirty="0">
              <a:latin typeface="Berlin Sans FB" panose="020E0602020502020306" pitchFamily="34" charset="0"/>
            </a:rPr>
            <a:t> di € 72k/anno</a:t>
          </a:r>
        </a:p>
      </dgm:t>
    </dgm:pt>
    <dgm:pt modelId="{33F3B425-0C6E-489B-A28F-4C3ACF074492}" type="parTrans" cxnId="{CBFE9225-C09C-43EF-86EC-F42340FBF8C9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E0DD6001-35A0-425C-AA4D-BDFEA44CD227}" type="sibTrans" cxnId="{CBFE9225-C09C-43EF-86EC-F42340FBF8C9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6FA246AC-D063-47E4-ACF4-707D257B7896}">
      <dgm:prSet/>
      <dgm:spPr/>
      <dgm:t>
        <a:bodyPr/>
        <a:lstStyle/>
        <a:p>
          <a:r>
            <a:rPr lang="it-IT" dirty="0">
              <a:latin typeface="Berlin Sans FB" panose="020E0602020502020306" pitchFamily="34" charset="0"/>
            </a:rPr>
            <a:t>Aumento capacità produttiva</a:t>
          </a:r>
        </a:p>
      </dgm:t>
    </dgm:pt>
    <dgm:pt modelId="{BB225447-75B0-4B11-84F4-44C6DD4124B9}" type="parTrans" cxnId="{EA2E38F2-E900-4AA9-975E-0B5D61E42E76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0EEC7DBA-8400-4227-BDF7-863955661FDA}" type="sibTrans" cxnId="{EA2E38F2-E900-4AA9-975E-0B5D61E42E76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7521D3C1-C321-46B1-8267-8A296DE3B8E8}">
      <dgm:prSet/>
      <dgm:spPr/>
      <dgm:t>
        <a:bodyPr/>
        <a:lstStyle/>
        <a:p>
          <a:r>
            <a:rPr lang="it-IT" dirty="0">
              <a:latin typeface="Berlin Sans FB" panose="020E0602020502020306" pitchFamily="34" charset="0"/>
            </a:rPr>
            <a:t>Valutare anche taglio turno notturno*</a:t>
          </a:r>
        </a:p>
      </dgm:t>
    </dgm:pt>
    <dgm:pt modelId="{3A9AB332-AF5C-46F5-B016-6DB191898C72}" type="parTrans" cxnId="{B74C5CA1-7294-4C2E-85C2-E10B69394D25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1F37D1DA-6DA5-4E73-8504-D41552BE9CCB}" type="sibTrans" cxnId="{B74C5CA1-7294-4C2E-85C2-E10B69394D25}">
      <dgm:prSet/>
      <dgm:spPr/>
      <dgm:t>
        <a:bodyPr/>
        <a:lstStyle/>
        <a:p>
          <a:endParaRPr lang="it-IT">
            <a:latin typeface="Berlin Sans FB" panose="020E0602020502020306" pitchFamily="34" charset="0"/>
          </a:endParaRPr>
        </a:p>
      </dgm:t>
    </dgm:pt>
    <dgm:pt modelId="{E0206789-D47B-4BDC-A157-D3950B0F3A1E}" type="pres">
      <dgm:prSet presAssocID="{6F0C613B-9C5B-47C2-B110-A24D618AF7F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585EBDA-B7E7-4066-9983-B397D55FBA00}" type="pres">
      <dgm:prSet presAssocID="{2D017179-C064-4250-9AB1-B785B5D9C32D}" presName="root1" presStyleCnt="0"/>
      <dgm:spPr/>
    </dgm:pt>
    <dgm:pt modelId="{5C89D680-A673-4295-B00E-3BB323222087}" type="pres">
      <dgm:prSet presAssocID="{2D017179-C064-4250-9AB1-B785B5D9C32D}" presName="LevelOneTextNode" presStyleLbl="node0" presStyleIdx="0" presStyleCnt="1">
        <dgm:presLayoutVars>
          <dgm:chPref val="3"/>
        </dgm:presLayoutVars>
      </dgm:prSet>
      <dgm:spPr/>
    </dgm:pt>
    <dgm:pt modelId="{B1D5524B-EC71-4C3E-A0C4-B770580966C9}" type="pres">
      <dgm:prSet presAssocID="{2D017179-C064-4250-9AB1-B785B5D9C32D}" presName="level2hierChild" presStyleCnt="0"/>
      <dgm:spPr/>
    </dgm:pt>
    <dgm:pt modelId="{1FD5EB35-0D11-4F12-92C9-D9DE538CE5A1}" type="pres">
      <dgm:prSet presAssocID="{FF51E9EE-4EBA-4B13-A4CD-068B773054C6}" presName="conn2-1" presStyleLbl="parChTrans1D2" presStyleIdx="0" presStyleCnt="2"/>
      <dgm:spPr/>
    </dgm:pt>
    <dgm:pt modelId="{067CA0A7-5C4C-4417-8D7B-223F2E23D955}" type="pres">
      <dgm:prSet presAssocID="{FF51E9EE-4EBA-4B13-A4CD-068B773054C6}" presName="connTx" presStyleLbl="parChTrans1D2" presStyleIdx="0" presStyleCnt="2"/>
      <dgm:spPr/>
    </dgm:pt>
    <dgm:pt modelId="{154D9B25-8ABC-41A1-A5DB-617CDA6818F2}" type="pres">
      <dgm:prSet presAssocID="{8435DAC4-06CF-4D77-8E28-E61CA9EB82AA}" presName="root2" presStyleCnt="0"/>
      <dgm:spPr/>
    </dgm:pt>
    <dgm:pt modelId="{CFC206CA-ED12-4E52-9620-E5F02217B2C7}" type="pres">
      <dgm:prSet presAssocID="{8435DAC4-06CF-4D77-8E28-E61CA9EB82AA}" presName="LevelTwoTextNode" presStyleLbl="node2" presStyleIdx="0" presStyleCnt="2">
        <dgm:presLayoutVars>
          <dgm:chPref val="3"/>
        </dgm:presLayoutVars>
      </dgm:prSet>
      <dgm:spPr/>
    </dgm:pt>
    <dgm:pt modelId="{8119E2DD-7E9D-4BC2-A504-18C35B8803EB}" type="pres">
      <dgm:prSet presAssocID="{8435DAC4-06CF-4D77-8E28-E61CA9EB82AA}" presName="level3hierChild" presStyleCnt="0"/>
      <dgm:spPr/>
    </dgm:pt>
    <dgm:pt modelId="{FF2D3E6E-FA0B-4852-B39B-B8812E702816}" type="pres">
      <dgm:prSet presAssocID="{33F3B425-0C6E-489B-A28F-4C3ACF074492}" presName="conn2-1" presStyleLbl="parChTrans1D3" presStyleIdx="0" presStyleCnt="2"/>
      <dgm:spPr/>
    </dgm:pt>
    <dgm:pt modelId="{85320A0C-5F06-4798-9FC2-A20D622A7708}" type="pres">
      <dgm:prSet presAssocID="{33F3B425-0C6E-489B-A28F-4C3ACF074492}" presName="connTx" presStyleLbl="parChTrans1D3" presStyleIdx="0" presStyleCnt="2"/>
      <dgm:spPr/>
    </dgm:pt>
    <dgm:pt modelId="{B8AA63AC-1BFE-453B-AC34-DE2D4055A519}" type="pres">
      <dgm:prSet presAssocID="{07966F4F-61F8-434F-9705-A22094458DF6}" presName="root2" presStyleCnt="0"/>
      <dgm:spPr/>
    </dgm:pt>
    <dgm:pt modelId="{B5D3FF42-BB52-4761-9E88-6A587787ED3C}" type="pres">
      <dgm:prSet presAssocID="{07966F4F-61F8-434F-9705-A22094458DF6}" presName="LevelTwoTextNode" presStyleLbl="node3" presStyleIdx="0" presStyleCnt="2">
        <dgm:presLayoutVars>
          <dgm:chPref val="3"/>
        </dgm:presLayoutVars>
      </dgm:prSet>
      <dgm:spPr/>
    </dgm:pt>
    <dgm:pt modelId="{F768D40D-19C1-40BE-85D1-C310BC237070}" type="pres">
      <dgm:prSet presAssocID="{07966F4F-61F8-434F-9705-A22094458DF6}" presName="level3hierChild" presStyleCnt="0"/>
      <dgm:spPr/>
    </dgm:pt>
    <dgm:pt modelId="{EF957FED-AAD9-4E32-9938-2067E67D7690}" type="pres">
      <dgm:prSet presAssocID="{BB225447-75B0-4B11-84F4-44C6DD4124B9}" presName="conn2-1" presStyleLbl="parChTrans1D2" presStyleIdx="1" presStyleCnt="2"/>
      <dgm:spPr/>
    </dgm:pt>
    <dgm:pt modelId="{49586161-4B53-410C-881F-31968DF3F5C3}" type="pres">
      <dgm:prSet presAssocID="{BB225447-75B0-4B11-84F4-44C6DD4124B9}" presName="connTx" presStyleLbl="parChTrans1D2" presStyleIdx="1" presStyleCnt="2"/>
      <dgm:spPr/>
    </dgm:pt>
    <dgm:pt modelId="{48FE9905-2242-487C-8946-8A1A8A513E86}" type="pres">
      <dgm:prSet presAssocID="{6FA246AC-D063-47E4-ACF4-707D257B7896}" presName="root2" presStyleCnt="0"/>
      <dgm:spPr/>
    </dgm:pt>
    <dgm:pt modelId="{5F7C4683-B513-43BC-B8D7-F1DD188CC47A}" type="pres">
      <dgm:prSet presAssocID="{6FA246AC-D063-47E4-ACF4-707D257B7896}" presName="LevelTwoTextNode" presStyleLbl="node2" presStyleIdx="1" presStyleCnt="2">
        <dgm:presLayoutVars>
          <dgm:chPref val="3"/>
        </dgm:presLayoutVars>
      </dgm:prSet>
      <dgm:spPr/>
    </dgm:pt>
    <dgm:pt modelId="{72A7BAF0-028C-4320-A7B5-300365C0E492}" type="pres">
      <dgm:prSet presAssocID="{6FA246AC-D063-47E4-ACF4-707D257B7896}" presName="level3hierChild" presStyleCnt="0"/>
      <dgm:spPr/>
    </dgm:pt>
    <dgm:pt modelId="{DC4C6880-A444-49E4-8B36-BAB4B1C50B0A}" type="pres">
      <dgm:prSet presAssocID="{3A9AB332-AF5C-46F5-B016-6DB191898C72}" presName="conn2-1" presStyleLbl="parChTrans1D3" presStyleIdx="1" presStyleCnt="2"/>
      <dgm:spPr/>
    </dgm:pt>
    <dgm:pt modelId="{17E54F79-77E7-4BC6-8DC9-7F27C416B3D0}" type="pres">
      <dgm:prSet presAssocID="{3A9AB332-AF5C-46F5-B016-6DB191898C72}" presName="connTx" presStyleLbl="parChTrans1D3" presStyleIdx="1" presStyleCnt="2"/>
      <dgm:spPr/>
    </dgm:pt>
    <dgm:pt modelId="{2968E78A-A0C6-44B1-B6D1-32F79E3E3321}" type="pres">
      <dgm:prSet presAssocID="{7521D3C1-C321-46B1-8267-8A296DE3B8E8}" presName="root2" presStyleCnt="0"/>
      <dgm:spPr/>
    </dgm:pt>
    <dgm:pt modelId="{5883B92A-003A-48B5-8F0B-1CDAB2BFD2D1}" type="pres">
      <dgm:prSet presAssocID="{7521D3C1-C321-46B1-8267-8A296DE3B8E8}" presName="LevelTwoTextNode" presStyleLbl="node3" presStyleIdx="1" presStyleCnt="2" custLinFactNeighborY="-1280">
        <dgm:presLayoutVars>
          <dgm:chPref val="3"/>
        </dgm:presLayoutVars>
      </dgm:prSet>
      <dgm:spPr/>
    </dgm:pt>
    <dgm:pt modelId="{A3A9FC28-E545-48DC-A673-A2158710B7E5}" type="pres">
      <dgm:prSet presAssocID="{7521D3C1-C321-46B1-8267-8A296DE3B8E8}" presName="level3hierChild" presStyleCnt="0"/>
      <dgm:spPr/>
    </dgm:pt>
  </dgm:ptLst>
  <dgm:cxnLst>
    <dgm:cxn modelId="{447B0502-AC4C-4046-8D17-1747BAE91341}" type="presOf" srcId="{FF51E9EE-4EBA-4B13-A4CD-068B773054C6}" destId="{1FD5EB35-0D11-4F12-92C9-D9DE538CE5A1}" srcOrd="0" destOrd="0" presId="urn:microsoft.com/office/officeart/2005/8/layout/hierarchy2"/>
    <dgm:cxn modelId="{CBFE9225-C09C-43EF-86EC-F42340FBF8C9}" srcId="{8435DAC4-06CF-4D77-8E28-E61CA9EB82AA}" destId="{07966F4F-61F8-434F-9705-A22094458DF6}" srcOrd="0" destOrd="0" parTransId="{33F3B425-0C6E-489B-A28F-4C3ACF074492}" sibTransId="{E0DD6001-35A0-425C-AA4D-BDFEA44CD227}"/>
    <dgm:cxn modelId="{5C325F2F-5E2E-44DA-A016-963FDE11BA5B}" type="presOf" srcId="{07966F4F-61F8-434F-9705-A22094458DF6}" destId="{B5D3FF42-BB52-4761-9E88-6A587787ED3C}" srcOrd="0" destOrd="0" presId="urn:microsoft.com/office/officeart/2005/8/layout/hierarchy2"/>
    <dgm:cxn modelId="{AB1E6C38-F03F-4CF5-8F66-00DAFCC047A4}" srcId="{6F0C613B-9C5B-47C2-B110-A24D618AF7F8}" destId="{2D017179-C064-4250-9AB1-B785B5D9C32D}" srcOrd="0" destOrd="0" parTransId="{2DE873F5-684E-4AA8-A1BB-DCA0C2CC93B8}" sibTransId="{DF21F3DB-1C3D-4ED3-8250-797458BD3713}"/>
    <dgm:cxn modelId="{988D433D-A867-450B-9BCE-D921303E9CBE}" type="presOf" srcId="{33F3B425-0C6E-489B-A28F-4C3ACF074492}" destId="{85320A0C-5F06-4798-9FC2-A20D622A7708}" srcOrd="1" destOrd="0" presId="urn:microsoft.com/office/officeart/2005/8/layout/hierarchy2"/>
    <dgm:cxn modelId="{8000945B-62C7-4EFF-890B-3F985076A065}" type="presOf" srcId="{BB225447-75B0-4B11-84F4-44C6DD4124B9}" destId="{49586161-4B53-410C-881F-31968DF3F5C3}" srcOrd="1" destOrd="0" presId="urn:microsoft.com/office/officeart/2005/8/layout/hierarchy2"/>
    <dgm:cxn modelId="{91EE144F-B87F-4F9A-8C07-BDE61B9C9D84}" type="presOf" srcId="{FF51E9EE-4EBA-4B13-A4CD-068B773054C6}" destId="{067CA0A7-5C4C-4417-8D7B-223F2E23D955}" srcOrd="1" destOrd="0" presId="urn:microsoft.com/office/officeart/2005/8/layout/hierarchy2"/>
    <dgm:cxn modelId="{DFE5017E-DFFE-4C67-941E-35EAAD4C0FB1}" type="presOf" srcId="{BB225447-75B0-4B11-84F4-44C6DD4124B9}" destId="{EF957FED-AAD9-4E32-9938-2067E67D7690}" srcOrd="0" destOrd="0" presId="urn:microsoft.com/office/officeart/2005/8/layout/hierarchy2"/>
    <dgm:cxn modelId="{70FC4D7E-8919-4012-B7B4-54BD122F813A}" srcId="{2D017179-C064-4250-9AB1-B785B5D9C32D}" destId="{8435DAC4-06CF-4D77-8E28-E61CA9EB82AA}" srcOrd="0" destOrd="0" parTransId="{FF51E9EE-4EBA-4B13-A4CD-068B773054C6}" sibTransId="{D8FA124F-B1A6-45B1-8705-7B3EBD2109F8}"/>
    <dgm:cxn modelId="{CC75EA8F-3796-4B04-A17C-A4BF01F2E8F0}" type="presOf" srcId="{2D017179-C064-4250-9AB1-B785B5D9C32D}" destId="{5C89D680-A673-4295-B00E-3BB323222087}" srcOrd="0" destOrd="0" presId="urn:microsoft.com/office/officeart/2005/8/layout/hierarchy2"/>
    <dgm:cxn modelId="{E1C37F96-4FC7-4D9E-B2CB-8E8253CA65A3}" type="presOf" srcId="{6F0C613B-9C5B-47C2-B110-A24D618AF7F8}" destId="{E0206789-D47B-4BDC-A157-D3950B0F3A1E}" srcOrd="0" destOrd="0" presId="urn:microsoft.com/office/officeart/2005/8/layout/hierarchy2"/>
    <dgm:cxn modelId="{B74C5CA1-7294-4C2E-85C2-E10B69394D25}" srcId="{6FA246AC-D063-47E4-ACF4-707D257B7896}" destId="{7521D3C1-C321-46B1-8267-8A296DE3B8E8}" srcOrd="0" destOrd="0" parTransId="{3A9AB332-AF5C-46F5-B016-6DB191898C72}" sibTransId="{1F37D1DA-6DA5-4E73-8504-D41552BE9CCB}"/>
    <dgm:cxn modelId="{1CED01AD-BDA1-47F3-9A2A-3E75973E1180}" type="presOf" srcId="{6FA246AC-D063-47E4-ACF4-707D257B7896}" destId="{5F7C4683-B513-43BC-B8D7-F1DD188CC47A}" srcOrd="0" destOrd="0" presId="urn:microsoft.com/office/officeart/2005/8/layout/hierarchy2"/>
    <dgm:cxn modelId="{B0A289C4-E19C-42D7-BD54-885E4D6508AE}" type="presOf" srcId="{33F3B425-0C6E-489B-A28F-4C3ACF074492}" destId="{FF2D3E6E-FA0B-4852-B39B-B8812E702816}" srcOrd="0" destOrd="0" presId="urn:microsoft.com/office/officeart/2005/8/layout/hierarchy2"/>
    <dgm:cxn modelId="{D8139ED4-5FE6-48BD-852A-3AEC1EC9EED8}" type="presOf" srcId="{8435DAC4-06CF-4D77-8E28-E61CA9EB82AA}" destId="{CFC206CA-ED12-4E52-9620-E5F02217B2C7}" srcOrd="0" destOrd="0" presId="urn:microsoft.com/office/officeart/2005/8/layout/hierarchy2"/>
    <dgm:cxn modelId="{C66B61EF-3F89-49CA-B06F-9F3203CFCD5A}" type="presOf" srcId="{3A9AB332-AF5C-46F5-B016-6DB191898C72}" destId="{DC4C6880-A444-49E4-8B36-BAB4B1C50B0A}" srcOrd="0" destOrd="0" presId="urn:microsoft.com/office/officeart/2005/8/layout/hierarchy2"/>
    <dgm:cxn modelId="{EA2E38F2-E900-4AA9-975E-0B5D61E42E76}" srcId="{2D017179-C064-4250-9AB1-B785B5D9C32D}" destId="{6FA246AC-D063-47E4-ACF4-707D257B7896}" srcOrd="1" destOrd="0" parTransId="{BB225447-75B0-4B11-84F4-44C6DD4124B9}" sibTransId="{0EEC7DBA-8400-4227-BDF7-863955661FDA}"/>
    <dgm:cxn modelId="{FE3AD6F2-701E-422E-A258-9CFF9C82F870}" type="presOf" srcId="{3A9AB332-AF5C-46F5-B016-6DB191898C72}" destId="{17E54F79-77E7-4BC6-8DC9-7F27C416B3D0}" srcOrd="1" destOrd="0" presId="urn:microsoft.com/office/officeart/2005/8/layout/hierarchy2"/>
    <dgm:cxn modelId="{926A5FF7-AAF1-4EBF-90B9-BEE720974705}" type="presOf" srcId="{7521D3C1-C321-46B1-8267-8A296DE3B8E8}" destId="{5883B92A-003A-48B5-8F0B-1CDAB2BFD2D1}" srcOrd="0" destOrd="0" presId="urn:microsoft.com/office/officeart/2005/8/layout/hierarchy2"/>
    <dgm:cxn modelId="{E230C207-89A2-4A4D-8C53-09F5EA0D0168}" type="presParOf" srcId="{E0206789-D47B-4BDC-A157-D3950B0F3A1E}" destId="{E585EBDA-B7E7-4066-9983-B397D55FBA00}" srcOrd="0" destOrd="0" presId="urn:microsoft.com/office/officeart/2005/8/layout/hierarchy2"/>
    <dgm:cxn modelId="{93415328-49F0-4CED-ADDD-F47A0F15394C}" type="presParOf" srcId="{E585EBDA-B7E7-4066-9983-B397D55FBA00}" destId="{5C89D680-A673-4295-B00E-3BB323222087}" srcOrd="0" destOrd="0" presId="urn:microsoft.com/office/officeart/2005/8/layout/hierarchy2"/>
    <dgm:cxn modelId="{B652D7FC-4F2E-48C6-9383-E61682EC7F99}" type="presParOf" srcId="{E585EBDA-B7E7-4066-9983-B397D55FBA00}" destId="{B1D5524B-EC71-4C3E-A0C4-B770580966C9}" srcOrd="1" destOrd="0" presId="urn:microsoft.com/office/officeart/2005/8/layout/hierarchy2"/>
    <dgm:cxn modelId="{888076EF-7A22-45EF-8E22-61403A83F084}" type="presParOf" srcId="{B1D5524B-EC71-4C3E-A0C4-B770580966C9}" destId="{1FD5EB35-0D11-4F12-92C9-D9DE538CE5A1}" srcOrd="0" destOrd="0" presId="urn:microsoft.com/office/officeart/2005/8/layout/hierarchy2"/>
    <dgm:cxn modelId="{3D433AC8-BB93-4E09-93F4-4B4EFA5673C7}" type="presParOf" srcId="{1FD5EB35-0D11-4F12-92C9-D9DE538CE5A1}" destId="{067CA0A7-5C4C-4417-8D7B-223F2E23D955}" srcOrd="0" destOrd="0" presId="urn:microsoft.com/office/officeart/2005/8/layout/hierarchy2"/>
    <dgm:cxn modelId="{25093F71-3C1F-42DE-A1D8-34D374FF26E3}" type="presParOf" srcId="{B1D5524B-EC71-4C3E-A0C4-B770580966C9}" destId="{154D9B25-8ABC-41A1-A5DB-617CDA6818F2}" srcOrd="1" destOrd="0" presId="urn:microsoft.com/office/officeart/2005/8/layout/hierarchy2"/>
    <dgm:cxn modelId="{BAA943BA-17CA-4D66-A1B9-59BA9261E773}" type="presParOf" srcId="{154D9B25-8ABC-41A1-A5DB-617CDA6818F2}" destId="{CFC206CA-ED12-4E52-9620-E5F02217B2C7}" srcOrd="0" destOrd="0" presId="urn:microsoft.com/office/officeart/2005/8/layout/hierarchy2"/>
    <dgm:cxn modelId="{B6526494-C5A4-4CEF-ACD9-63C03868222D}" type="presParOf" srcId="{154D9B25-8ABC-41A1-A5DB-617CDA6818F2}" destId="{8119E2DD-7E9D-4BC2-A504-18C35B8803EB}" srcOrd="1" destOrd="0" presId="urn:microsoft.com/office/officeart/2005/8/layout/hierarchy2"/>
    <dgm:cxn modelId="{28053014-7079-4B14-AAB5-48637B133315}" type="presParOf" srcId="{8119E2DD-7E9D-4BC2-A504-18C35B8803EB}" destId="{FF2D3E6E-FA0B-4852-B39B-B8812E702816}" srcOrd="0" destOrd="0" presId="urn:microsoft.com/office/officeart/2005/8/layout/hierarchy2"/>
    <dgm:cxn modelId="{632184B2-B655-44FF-9360-E5A0579A2483}" type="presParOf" srcId="{FF2D3E6E-FA0B-4852-B39B-B8812E702816}" destId="{85320A0C-5F06-4798-9FC2-A20D622A7708}" srcOrd="0" destOrd="0" presId="urn:microsoft.com/office/officeart/2005/8/layout/hierarchy2"/>
    <dgm:cxn modelId="{2BDBD5D8-FD70-4FCE-BD79-6C8CE0A53FCA}" type="presParOf" srcId="{8119E2DD-7E9D-4BC2-A504-18C35B8803EB}" destId="{B8AA63AC-1BFE-453B-AC34-DE2D4055A519}" srcOrd="1" destOrd="0" presId="urn:microsoft.com/office/officeart/2005/8/layout/hierarchy2"/>
    <dgm:cxn modelId="{58F9A24A-7330-48ED-9582-823746C1D40C}" type="presParOf" srcId="{B8AA63AC-1BFE-453B-AC34-DE2D4055A519}" destId="{B5D3FF42-BB52-4761-9E88-6A587787ED3C}" srcOrd="0" destOrd="0" presId="urn:microsoft.com/office/officeart/2005/8/layout/hierarchy2"/>
    <dgm:cxn modelId="{61468026-B7D1-4413-8FD4-234284118772}" type="presParOf" srcId="{B8AA63AC-1BFE-453B-AC34-DE2D4055A519}" destId="{F768D40D-19C1-40BE-85D1-C310BC237070}" srcOrd="1" destOrd="0" presId="urn:microsoft.com/office/officeart/2005/8/layout/hierarchy2"/>
    <dgm:cxn modelId="{EDD083A7-2665-46C0-A85F-9387BB0B51A6}" type="presParOf" srcId="{B1D5524B-EC71-4C3E-A0C4-B770580966C9}" destId="{EF957FED-AAD9-4E32-9938-2067E67D7690}" srcOrd="2" destOrd="0" presId="urn:microsoft.com/office/officeart/2005/8/layout/hierarchy2"/>
    <dgm:cxn modelId="{044E0888-D083-46B0-95B3-1EBC834F980D}" type="presParOf" srcId="{EF957FED-AAD9-4E32-9938-2067E67D7690}" destId="{49586161-4B53-410C-881F-31968DF3F5C3}" srcOrd="0" destOrd="0" presId="urn:microsoft.com/office/officeart/2005/8/layout/hierarchy2"/>
    <dgm:cxn modelId="{AB97E835-568F-4951-8CBD-A7859F9574A8}" type="presParOf" srcId="{B1D5524B-EC71-4C3E-A0C4-B770580966C9}" destId="{48FE9905-2242-487C-8946-8A1A8A513E86}" srcOrd="3" destOrd="0" presId="urn:microsoft.com/office/officeart/2005/8/layout/hierarchy2"/>
    <dgm:cxn modelId="{A6EE7EF7-D02A-49CB-B989-DBA067E84C16}" type="presParOf" srcId="{48FE9905-2242-487C-8946-8A1A8A513E86}" destId="{5F7C4683-B513-43BC-B8D7-F1DD188CC47A}" srcOrd="0" destOrd="0" presId="urn:microsoft.com/office/officeart/2005/8/layout/hierarchy2"/>
    <dgm:cxn modelId="{A46D468D-91DE-454C-BAE8-5FFABE3B8869}" type="presParOf" srcId="{48FE9905-2242-487C-8946-8A1A8A513E86}" destId="{72A7BAF0-028C-4320-A7B5-300365C0E492}" srcOrd="1" destOrd="0" presId="urn:microsoft.com/office/officeart/2005/8/layout/hierarchy2"/>
    <dgm:cxn modelId="{2EC28337-EB8B-4EB6-8845-7328D4B1EEC1}" type="presParOf" srcId="{72A7BAF0-028C-4320-A7B5-300365C0E492}" destId="{DC4C6880-A444-49E4-8B36-BAB4B1C50B0A}" srcOrd="0" destOrd="0" presId="urn:microsoft.com/office/officeart/2005/8/layout/hierarchy2"/>
    <dgm:cxn modelId="{BDC64783-E78D-4653-88A3-51B557618B83}" type="presParOf" srcId="{DC4C6880-A444-49E4-8B36-BAB4B1C50B0A}" destId="{17E54F79-77E7-4BC6-8DC9-7F27C416B3D0}" srcOrd="0" destOrd="0" presId="urn:microsoft.com/office/officeart/2005/8/layout/hierarchy2"/>
    <dgm:cxn modelId="{9E974CCB-0DD5-4500-95F4-9C6F5FF1E257}" type="presParOf" srcId="{72A7BAF0-028C-4320-A7B5-300365C0E492}" destId="{2968E78A-A0C6-44B1-B6D1-32F79E3E3321}" srcOrd="1" destOrd="0" presId="urn:microsoft.com/office/officeart/2005/8/layout/hierarchy2"/>
    <dgm:cxn modelId="{BAA3D253-38B8-4E42-A304-E78EABDFBDC0}" type="presParOf" srcId="{2968E78A-A0C6-44B1-B6D1-32F79E3E3321}" destId="{5883B92A-003A-48B5-8F0B-1CDAB2BFD2D1}" srcOrd="0" destOrd="0" presId="urn:microsoft.com/office/officeart/2005/8/layout/hierarchy2"/>
    <dgm:cxn modelId="{D5EA7AEB-B3CB-4620-A866-AB5412FA4E44}" type="presParOf" srcId="{2968E78A-A0C6-44B1-B6D1-32F79E3E3321}" destId="{A3A9FC28-E545-48DC-A673-A2158710B7E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9D680-A673-4295-B00E-3BB323222087}">
      <dsp:nvSpPr>
        <dsp:cNvPr id="0" name=""/>
        <dsp:cNvSpPr/>
      </dsp:nvSpPr>
      <dsp:spPr>
        <a:xfrm>
          <a:off x="1483095" y="698770"/>
          <a:ext cx="2427844" cy="121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Berlin Sans FB" panose="020E0602020502020306" pitchFamily="34" charset="0"/>
            </a:rPr>
            <a:t>Ammodernamento L3</a:t>
          </a:r>
        </a:p>
      </dsp:txBody>
      <dsp:txXfrm>
        <a:off x="1518650" y="734325"/>
        <a:ext cx="2356734" cy="1142812"/>
      </dsp:txXfrm>
    </dsp:sp>
    <dsp:sp modelId="{1FD5EB35-0D11-4F12-92C9-D9DE538CE5A1}">
      <dsp:nvSpPr>
        <dsp:cNvPr id="0" name=""/>
        <dsp:cNvSpPr/>
      </dsp:nvSpPr>
      <dsp:spPr>
        <a:xfrm rot="19457599">
          <a:off x="3798528" y="914892"/>
          <a:ext cx="1195959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195959" y="41835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>
            <a:latin typeface="Berlin Sans FB" panose="020E0602020502020306" pitchFamily="34" charset="0"/>
          </a:endParaRPr>
        </a:p>
      </dsp:txBody>
      <dsp:txXfrm>
        <a:off x="4366609" y="926829"/>
        <a:ext cx="59797" cy="59797"/>
      </dsp:txXfrm>
    </dsp:sp>
    <dsp:sp modelId="{CFC206CA-ED12-4E52-9620-E5F02217B2C7}">
      <dsp:nvSpPr>
        <dsp:cNvPr id="0" name=""/>
        <dsp:cNvSpPr/>
      </dsp:nvSpPr>
      <dsp:spPr>
        <a:xfrm>
          <a:off x="4882077" y="765"/>
          <a:ext cx="2427844" cy="121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Berlin Sans FB" panose="020E0602020502020306" pitchFamily="34" charset="0"/>
            </a:rPr>
            <a:t>Stessa capacità produttiva</a:t>
          </a:r>
        </a:p>
      </dsp:txBody>
      <dsp:txXfrm>
        <a:off x="4917632" y="36320"/>
        <a:ext cx="2356734" cy="1142812"/>
      </dsp:txXfrm>
    </dsp:sp>
    <dsp:sp modelId="{FF2D3E6E-FA0B-4852-B39B-B8812E702816}">
      <dsp:nvSpPr>
        <dsp:cNvPr id="0" name=""/>
        <dsp:cNvSpPr/>
      </dsp:nvSpPr>
      <dsp:spPr>
        <a:xfrm>
          <a:off x="7309922" y="565890"/>
          <a:ext cx="971137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971137" y="41835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>
            <a:latin typeface="Berlin Sans FB" panose="020E0602020502020306" pitchFamily="34" charset="0"/>
          </a:endParaRPr>
        </a:p>
      </dsp:txBody>
      <dsp:txXfrm>
        <a:off x="7771212" y="583447"/>
        <a:ext cx="48556" cy="48556"/>
      </dsp:txXfrm>
    </dsp:sp>
    <dsp:sp modelId="{B5D3FF42-BB52-4761-9E88-6A587787ED3C}">
      <dsp:nvSpPr>
        <dsp:cNvPr id="0" name=""/>
        <dsp:cNvSpPr/>
      </dsp:nvSpPr>
      <dsp:spPr>
        <a:xfrm>
          <a:off x="8281060" y="765"/>
          <a:ext cx="2427844" cy="121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Berlin Sans FB" panose="020E0602020502020306" pitchFamily="34" charset="0"/>
            </a:rPr>
            <a:t>Scarti L3 come altre linee = </a:t>
          </a:r>
          <a:r>
            <a:rPr lang="it-IT" sz="2200" i="1" kern="1200" dirty="0" err="1">
              <a:latin typeface="Berlin Sans FB" panose="020E0602020502020306" pitchFamily="34" charset="0"/>
            </a:rPr>
            <a:t>saving</a:t>
          </a:r>
          <a:r>
            <a:rPr lang="it-IT" sz="2200" kern="1200" dirty="0">
              <a:latin typeface="Berlin Sans FB" panose="020E0602020502020306" pitchFamily="34" charset="0"/>
            </a:rPr>
            <a:t> di € 72k/anno</a:t>
          </a:r>
        </a:p>
      </dsp:txBody>
      <dsp:txXfrm>
        <a:off x="8316615" y="36320"/>
        <a:ext cx="2356734" cy="1142812"/>
      </dsp:txXfrm>
    </dsp:sp>
    <dsp:sp modelId="{EF957FED-AAD9-4E32-9938-2067E67D7690}">
      <dsp:nvSpPr>
        <dsp:cNvPr id="0" name=""/>
        <dsp:cNvSpPr/>
      </dsp:nvSpPr>
      <dsp:spPr>
        <a:xfrm rot="2142401">
          <a:off x="3798528" y="1612898"/>
          <a:ext cx="1195959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195959" y="41835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>
            <a:latin typeface="Berlin Sans FB" panose="020E0602020502020306" pitchFamily="34" charset="0"/>
          </a:endParaRPr>
        </a:p>
      </dsp:txBody>
      <dsp:txXfrm>
        <a:off x="4366609" y="1624835"/>
        <a:ext cx="59797" cy="59797"/>
      </dsp:txXfrm>
    </dsp:sp>
    <dsp:sp modelId="{5F7C4683-B513-43BC-B8D7-F1DD188CC47A}">
      <dsp:nvSpPr>
        <dsp:cNvPr id="0" name=""/>
        <dsp:cNvSpPr/>
      </dsp:nvSpPr>
      <dsp:spPr>
        <a:xfrm>
          <a:off x="4882077" y="1396775"/>
          <a:ext cx="2427844" cy="121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Berlin Sans FB" panose="020E0602020502020306" pitchFamily="34" charset="0"/>
            </a:rPr>
            <a:t>Aumento capacità produttiva</a:t>
          </a:r>
        </a:p>
      </dsp:txBody>
      <dsp:txXfrm>
        <a:off x="4917632" y="1432330"/>
        <a:ext cx="2356734" cy="1142812"/>
      </dsp:txXfrm>
    </dsp:sp>
    <dsp:sp modelId="{DC4C6880-A444-49E4-8B36-BAB4B1C50B0A}">
      <dsp:nvSpPr>
        <dsp:cNvPr id="0" name=""/>
        <dsp:cNvSpPr/>
      </dsp:nvSpPr>
      <dsp:spPr>
        <a:xfrm rot="21545001">
          <a:off x="7309860" y="1954131"/>
          <a:ext cx="97126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971262" y="41835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>
            <a:latin typeface="Berlin Sans FB" panose="020E0602020502020306" pitchFamily="34" charset="0"/>
          </a:endParaRPr>
        </a:p>
      </dsp:txBody>
      <dsp:txXfrm>
        <a:off x="7771209" y="1971686"/>
        <a:ext cx="48563" cy="48563"/>
      </dsp:txXfrm>
    </dsp:sp>
    <dsp:sp modelId="{5883B92A-003A-48B5-8F0B-1CDAB2BFD2D1}">
      <dsp:nvSpPr>
        <dsp:cNvPr id="0" name=""/>
        <dsp:cNvSpPr/>
      </dsp:nvSpPr>
      <dsp:spPr>
        <a:xfrm>
          <a:off x="8281060" y="1381237"/>
          <a:ext cx="2427844" cy="1213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>
              <a:latin typeface="Berlin Sans FB" panose="020E0602020502020306" pitchFamily="34" charset="0"/>
            </a:rPr>
            <a:t>Valutare anche taglio turno notturno*</a:t>
          </a:r>
        </a:p>
      </dsp:txBody>
      <dsp:txXfrm>
        <a:off x="8316615" y="1416792"/>
        <a:ext cx="2356734" cy="114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81DA2-E423-52A3-8894-7971294A4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B65AA-DA66-E8B8-6E8C-52917C91E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A296E-2E52-A046-87EE-1A6B04D5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3B42A-3993-E8EE-7399-DD2DF7DC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0BB37-7E87-726C-BFB5-E9F8666D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619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F038-6E4B-E4C8-7ECC-D106F54FC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3F95C-60C9-45A6-AA41-9E599572D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57108-CD9D-33F8-4985-DC0E961E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5001D-CC32-8DC0-D1D9-6B256ED3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E7268-E384-9BF1-E4D3-CD5A729A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636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58EC-A3AF-E96C-DD97-37AB7DA96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F7950-7BA8-23AF-E6DF-2AE487D47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EB7C2-DB5F-02A9-FF45-BD646104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05CE4-F3DF-25AD-E4BC-01709F53B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DAC2D-A3A1-C770-0EE8-E9638B2E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44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C589-E087-813C-7E61-2298D002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560CE-0A7E-6BBD-0874-44231105C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ED98A-0A78-997F-5B78-30191CB45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08D64-798E-6586-6677-2CFC23909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8795E-A9AA-9C38-91EA-1653FB26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47E3B-8252-E50C-BD20-BF71BC0D9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60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BA87-F3E6-2B26-5160-ACB07B0E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BF801-ED88-8023-F021-7A6C6DD3B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6F640-35F4-8243-04F7-596C8B16D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D20E8-081A-A1CE-04FD-B5050275B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F40A0-45AB-DEA4-A9C0-B96580B52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2A155F-485E-DB51-0545-F3EFEBAE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5A49D6-41F7-EF32-3B0F-E512FE82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AF7F2D-908D-0FC8-E300-BA5C22FE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70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8923-E0B7-694A-8CC5-C734A81C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44323-B7C7-3B86-4029-A8CC3162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A2844-47E7-BC7F-2C1E-DFCB966E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24AA5-769F-FF10-197B-342D3861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375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861B3-E00C-F483-05DB-01D06D359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D174C5-F626-B3B1-1778-9D567D9B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DB1C2-85DA-4383-1C88-0BD64EF0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431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8841-BE57-C5A1-0254-65D68CEA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C61F2-A7D6-D7E2-D92A-8514BC163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32725-96FA-1705-193D-EADE5504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2B648-638C-1D18-DA38-CEEC9D87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BF635-2D54-44E3-60B0-9DAB588E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E74FF-BB51-9554-F76E-88C5829A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543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E568-E147-B2B5-2687-52C986E0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E6476-F694-5558-8363-F2116E7E5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701E5-E1EA-D7F3-B5E9-78C4EB664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B7008-4CE8-9DF4-E53F-FA3833B1A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54410-5A31-846C-C308-3656B4B3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AF4C8-E2E0-9F6C-C9B7-FF933FC5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809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1D8A8-D4C7-7DB7-0B0A-74F29081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BF70F-05BD-7F67-A1B3-860DC2F6E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D5C34-3E70-DD2A-E5A9-3B279912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4F31B-F6B8-2BD0-8FFA-1C7FAFF7C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BC39C-132E-ABF9-F01E-27CE78C51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740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A20F57-98CB-C3CC-445A-A2154D8F3C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6BD17-1689-3ED3-881C-9970FBF7B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6211-D3F3-9884-AE15-40890D34E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60955-47C2-A32A-DC3B-E2DC973E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2F3F5-6D6F-11D8-8155-46BB2202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910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F134A4-2BCE-6338-C426-6AC38C6A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08922-C220-111A-6D6D-62CCC970D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5528E-17B2-69AE-7BB4-B0725CE4C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F2FE3-B950-4FF6-A76D-9F38BEB602E8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5551B-070C-D5A7-8950-4B6B5A8F7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A82EB-25F2-1A80-9CDC-3E5A25B3B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22E71-8223-4AD7-921F-8B1FA731B83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7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AD9FC-5AD3-144C-2113-0ED00413B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632" t="32132" r="21945" b="32677"/>
          <a:stretch>
            <a:fillRect/>
          </a:stretch>
        </p:blipFill>
        <p:spPr>
          <a:xfrm>
            <a:off x="2893103" y="2203554"/>
            <a:ext cx="6610662" cy="2413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DB80F0-9FEF-79F5-A22B-D1803606E0CA}"/>
              </a:ext>
            </a:extLst>
          </p:cNvPr>
          <p:cNvSpPr/>
          <p:nvPr/>
        </p:nvSpPr>
        <p:spPr>
          <a:xfrm>
            <a:off x="3280966" y="2505670"/>
            <a:ext cx="56300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0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7A223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rlin Sans FB" panose="020E0602020502020306" pitchFamily="34" charset="0"/>
              </a:rPr>
              <a:t>Scarti produttivi</a:t>
            </a:r>
            <a:endParaRPr lang="it-IT" sz="5400" b="1" cap="none" spc="0" dirty="0">
              <a:ln w="10160">
                <a:solidFill>
                  <a:schemeClr val="bg1"/>
                </a:solidFill>
                <a:prstDash val="solid"/>
              </a:ln>
              <a:solidFill>
                <a:srgbClr val="7A223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FC8517-AF9A-FAEC-2DAC-E11DB575654A}"/>
              </a:ext>
            </a:extLst>
          </p:cNvPr>
          <p:cNvSpPr/>
          <p:nvPr/>
        </p:nvSpPr>
        <p:spPr>
          <a:xfrm>
            <a:off x="3221654" y="3429000"/>
            <a:ext cx="574869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b="1" cap="none" spc="0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7A223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rlin Sans FB" panose="020E0602020502020306" pitchFamily="34" charset="0"/>
              </a:rPr>
              <a:t>Situazione e spunti di intervento</a:t>
            </a:r>
          </a:p>
        </p:txBody>
      </p:sp>
    </p:spTree>
    <p:extLst>
      <p:ext uri="{BB962C8B-B14F-4D97-AF65-F5344CB8AC3E}">
        <p14:creationId xmlns:p14="http://schemas.microsoft.com/office/powerpoint/2010/main" val="89708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045309-E0C0-6295-AF0A-DEA1DAA73B92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9E6E5-B364-D3A7-5D62-4B30B8D8DBDE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380658-43BD-D841-7E1D-2E65F729C23A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9D537-769F-3DA4-A946-33EC26D28754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61A30-CC2B-6883-CB29-3348D0F58500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EC73CF-AB9A-0067-01B3-35539D184B5A}"/>
              </a:ext>
            </a:extLst>
          </p:cNvPr>
          <p:cNvSpPr/>
          <p:nvPr/>
        </p:nvSpPr>
        <p:spPr>
          <a:xfrm>
            <a:off x="-1410738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F5AF73E-8B8C-C32B-95B1-9702183F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6013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Introduzione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4A3DA7-2856-007C-81D0-04585F648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9575"/>
            <a:ext cx="10515600" cy="3977387"/>
          </a:xfrm>
        </p:spPr>
        <p:txBody>
          <a:bodyPr/>
          <a:lstStyle/>
          <a:p>
            <a:pPr marL="0" indent="0">
              <a:buNone/>
            </a:pPr>
            <a:r>
              <a:rPr lang="it-IT" dirty="0">
                <a:latin typeface="Berlin Sans FB" panose="020E0602020502020306" pitchFamily="34" charset="0"/>
              </a:rPr>
              <a:t>Analisi condotta con Python e incentrata sugli scarti di produzione:</a:t>
            </a:r>
          </a:p>
          <a:p>
            <a:r>
              <a:rPr lang="it-IT" dirty="0">
                <a:latin typeface="Berlin Sans FB" panose="020E0602020502020306" pitchFamily="34" charset="0"/>
              </a:rPr>
              <a:t>Situazione complessiva delle 4 linee produttive e dei turni di produzione</a:t>
            </a:r>
          </a:p>
          <a:p>
            <a:r>
              <a:rPr lang="it-IT" dirty="0">
                <a:latin typeface="Berlin Sans FB" panose="020E0602020502020306" pitchFamily="34" charset="0"/>
              </a:rPr>
              <a:t>Differenze a livello di prodotto</a:t>
            </a:r>
          </a:p>
          <a:p>
            <a:r>
              <a:rPr lang="it-IT" dirty="0">
                <a:latin typeface="Berlin Sans FB" panose="020E0602020502020306" pitchFamily="34" charset="0"/>
              </a:rPr>
              <a:t>Risultati del controllo qualità (CQ)</a:t>
            </a:r>
          </a:p>
          <a:p>
            <a:r>
              <a:rPr lang="it-IT" dirty="0">
                <a:latin typeface="Berlin Sans FB" panose="020E0602020502020306" pitchFamily="34" charset="0"/>
              </a:rPr>
              <a:t>Fermi produttivi</a:t>
            </a:r>
          </a:p>
          <a:p>
            <a:r>
              <a:rPr lang="it-IT" dirty="0">
                <a:latin typeface="Berlin Sans FB" panose="020E0602020502020306" pitchFamily="34" charset="0"/>
              </a:rPr>
              <a:t>Conclusioni e spunti di miglioramento</a:t>
            </a:r>
          </a:p>
        </p:txBody>
      </p:sp>
    </p:spTree>
    <p:extLst>
      <p:ext uri="{BB962C8B-B14F-4D97-AF65-F5344CB8AC3E}">
        <p14:creationId xmlns:p14="http://schemas.microsoft.com/office/powerpoint/2010/main" val="280668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C8F40-8826-73D3-63B2-B8BA92771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5AC7C4-9988-500C-4E43-FA8E6DFB6891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DB87A-0A5D-F05F-44AC-0636389FECE3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2BC2A-1B24-9CFC-FB8E-5BD266D460C3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86765-F817-C428-FBA7-6AC5896EE34B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129A39-31CF-0A3E-AA59-0459CE599EDD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06C46E-D835-0B28-D5D4-6EF394484E59}"/>
              </a:ext>
            </a:extLst>
          </p:cNvPr>
          <p:cNvSpPr/>
          <p:nvPr/>
        </p:nvSpPr>
        <p:spPr>
          <a:xfrm>
            <a:off x="276905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17953-704E-6B59-10F5-BF7A27CA1E8E}"/>
              </a:ext>
            </a:extLst>
          </p:cNvPr>
          <p:cNvSpPr txBox="1">
            <a:spLocks/>
          </p:cNvSpPr>
          <p:nvPr/>
        </p:nvSpPr>
        <p:spPr>
          <a:xfrm>
            <a:off x="838200" y="1357221"/>
            <a:ext cx="3149184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Per linea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C2DD-889C-62AC-89DC-9019BF12A95E}"/>
              </a:ext>
            </a:extLst>
          </p:cNvPr>
          <p:cNvSpPr txBox="1">
            <a:spLocks/>
          </p:cNvSpPr>
          <p:nvPr/>
        </p:nvSpPr>
        <p:spPr>
          <a:xfrm>
            <a:off x="4107305" y="1262220"/>
            <a:ext cx="7246495" cy="1074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Volumi paragonabili</a:t>
            </a:r>
          </a:p>
          <a:p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Resa inferiore</a:t>
            </a:r>
            <a:r>
              <a:rPr lang="it-IT" dirty="0">
                <a:latin typeface="Berlin Sans FB" panose="020E0602020502020306" pitchFamily="34" charset="0"/>
              </a:rPr>
              <a:t> (scarto superiore) su L3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90E890-C38C-8949-DE73-DD89E1192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7006"/>
            <a:ext cx="12192000" cy="430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59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6885-0376-D8CE-BF81-CCDA1E15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90D34-82A3-AAAA-466E-041EAF6EA0CB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B80F7-EC7E-C474-A847-6C7CDC5FEA49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A5734-D0A0-B559-B91E-A21096780017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260EE-FBE3-B6F1-298A-A317E6F77CB4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D48D3-0F32-113A-9F72-3B8CFD32DFF8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B6D893-FB39-37FB-D45F-4E817D69437B}"/>
              </a:ext>
            </a:extLst>
          </p:cNvPr>
          <p:cNvSpPr/>
          <p:nvPr/>
        </p:nvSpPr>
        <p:spPr>
          <a:xfrm>
            <a:off x="276905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A59BC-4794-42A2-AE60-7506169BDCD5}"/>
              </a:ext>
            </a:extLst>
          </p:cNvPr>
          <p:cNvSpPr txBox="1">
            <a:spLocks/>
          </p:cNvSpPr>
          <p:nvPr/>
        </p:nvSpPr>
        <p:spPr>
          <a:xfrm>
            <a:off x="838200" y="1357221"/>
            <a:ext cx="3149184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Per linea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CC1F-D6B0-C878-16CF-316A1F26948E}"/>
              </a:ext>
            </a:extLst>
          </p:cNvPr>
          <p:cNvSpPr txBox="1">
            <a:spLocks/>
          </p:cNvSpPr>
          <p:nvPr/>
        </p:nvSpPr>
        <p:spPr>
          <a:xfrm>
            <a:off x="4107305" y="1494571"/>
            <a:ext cx="7246495" cy="523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La situazione è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invariata nel tempo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65D52E-3DFE-85B2-6F10-3158F1ECB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2939" y="2557006"/>
            <a:ext cx="8346121" cy="430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87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2884-4BC3-3BD0-F233-2639FF29D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DA5E10-60D7-16D8-28B9-D7073D6A60C3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E03324-F066-30B1-88D7-D3AF01DC97B4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A8267-E7D1-7F08-48BD-A4570D9942E7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FE563D-59DE-4D3D-EB91-BD1EDC30B33C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85F0A-CD6A-7DE4-DAAC-1D3EF847D49A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876ADE-F872-8FD7-E19E-3E6F032798FB}"/>
              </a:ext>
            </a:extLst>
          </p:cNvPr>
          <p:cNvSpPr/>
          <p:nvPr/>
        </p:nvSpPr>
        <p:spPr>
          <a:xfrm>
            <a:off x="276905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C540A-E3F6-5FA7-BFF9-17583D863A05}"/>
              </a:ext>
            </a:extLst>
          </p:cNvPr>
          <p:cNvSpPr txBox="1">
            <a:spLocks/>
          </p:cNvSpPr>
          <p:nvPr/>
        </p:nvSpPr>
        <p:spPr>
          <a:xfrm>
            <a:off x="838200" y="1357221"/>
            <a:ext cx="3149184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Per turno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8EE8-1504-F821-98F2-327B55058842}"/>
              </a:ext>
            </a:extLst>
          </p:cNvPr>
          <p:cNvSpPr txBox="1">
            <a:spLocks/>
          </p:cNvSpPr>
          <p:nvPr/>
        </p:nvSpPr>
        <p:spPr>
          <a:xfrm>
            <a:off x="4107305" y="1262220"/>
            <a:ext cx="7246495" cy="1074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Volumi</a:t>
            </a:r>
            <a:r>
              <a:rPr lang="it-IT" dirty="0">
                <a:latin typeface="Berlin Sans FB" panose="020E0602020502020306" pitchFamily="34" charset="0"/>
              </a:rPr>
              <a:t> molto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inferiori</a:t>
            </a:r>
            <a:r>
              <a:rPr lang="it-IT" dirty="0">
                <a:latin typeface="Berlin Sans FB" panose="020E0602020502020306" pitchFamily="34" charset="0"/>
              </a:rPr>
              <a:t> di notte</a:t>
            </a:r>
          </a:p>
          <a:p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Resa inferiore</a:t>
            </a:r>
            <a:r>
              <a:rPr lang="it-IT" dirty="0">
                <a:latin typeface="Berlin Sans FB" panose="020E0602020502020306" pitchFamily="34" charset="0"/>
              </a:rPr>
              <a:t> di notte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264B90-0659-3013-BBB1-1E792A181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0" y="2557006"/>
            <a:ext cx="12184119" cy="430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40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1CBB5-92C0-2220-3E53-0D2DDC525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F849F9-576B-C662-EBA7-C4DDD5FEDC22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4DC9E-8BFF-EDEE-1D2E-7EDA2BFF329F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7312EB-FD53-48C8-6FC4-7B60C2DD77C4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602F4-73C2-A2EB-C4CD-5B5B25377226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C1ADB-D5A3-E62C-8DC2-0BCC7623419B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52C891-BFA8-1496-CAD9-34C65017239D}"/>
              </a:ext>
            </a:extLst>
          </p:cNvPr>
          <p:cNvSpPr/>
          <p:nvPr/>
        </p:nvSpPr>
        <p:spPr>
          <a:xfrm>
            <a:off x="276905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D6BAB-84D9-551B-0EFE-FBE7DDA47FBB}"/>
              </a:ext>
            </a:extLst>
          </p:cNvPr>
          <p:cNvSpPr txBox="1">
            <a:spLocks/>
          </p:cNvSpPr>
          <p:nvPr/>
        </p:nvSpPr>
        <p:spPr>
          <a:xfrm>
            <a:off x="0" y="1357221"/>
            <a:ext cx="3987384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000" dirty="0">
                <a:solidFill>
                  <a:srgbClr val="7A2234"/>
                </a:solidFill>
                <a:latin typeface="Berlin Sans FB" panose="020E0602020502020306" pitchFamily="34" charset="0"/>
              </a:rPr>
              <a:t>Per linea e turno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AFE7-3157-17B0-B037-D567E666A3EE}"/>
              </a:ext>
            </a:extLst>
          </p:cNvPr>
          <p:cNvSpPr txBox="1">
            <a:spLocks/>
          </p:cNvSpPr>
          <p:nvPr/>
        </p:nvSpPr>
        <p:spPr>
          <a:xfrm>
            <a:off x="4107305" y="1262220"/>
            <a:ext cx="7246495" cy="1074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Volumi molto inferiori di notte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su tutte le linee</a:t>
            </a:r>
          </a:p>
          <a:p>
            <a:r>
              <a:rPr lang="it-IT" dirty="0">
                <a:latin typeface="Berlin Sans FB" panose="020E0602020502020306" pitchFamily="34" charset="0"/>
              </a:rPr>
              <a:t>Resa inferiore di notte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su tutte le linee</a:t>
            </a:r>
            <a:endParaRPr lang="it-IT" dirty="0">
              <a:latin typeface="Berlin Sans FB" panose="020E0602020502020306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178F13-A09F-6238-F335-7166D6F37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0" y="2557006"/>
            <a:ext cx="12184119" cy="430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43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8812-2D2B-4F38-DA55-29243433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F7041BB-8561-0C5F-385E-2DB6D906A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46012"/>
            <a:ext cx="12192001" cy="5911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C9F386-4608-6CE7-0196-E71A4464B8D6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D6FCA-C9C5-E88F-4863-B11A8F226EA1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5B173-744D-FB4E-DA73-E5FB512F936E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9FFBA-B081-0954-FE38-AD06578A2463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B30F0-52CD-B764-D0AB-16C3F93FC858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714006-B1D9-183D-A6D5-CE7D321EA340}"/>
              </a:ext>
            </a:extLst>
          </p:cNvPr>
          <p:cNvSpPr/>
          <p:nvPr/>
        </p:nvSpPr>
        <p:spPr>
          <a:xfrm>
            <a:off x="2870827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8706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3622A-7CC2-1ACF-F1AC-154A85D1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1CED6A-B875-4889-3C69-679F3248734F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D835D-747A-4E47-23E9-19B7398AEDD5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F757C-6668-1468-6FB6-617FB8BC44C2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72B9A-1915-676C-10D2-021C7F423DD9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38593-7434-D49F-AFBA-29E27CB8B5F3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F0692A-674C-F8A6-7BCA-DB6CF0F9889D}"/>
              </a:ext>
            </a:extLst>
          </p:cNvPr>
          <p:cNvSpPr/>
          <p:nvPr/>
        </p:nvSpPr>
        <p:spPr>
          <a:xfrm>
            <a:off x="2870827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8F901-934D-1333-6E77-9757CB75A81C}"/>
              </a:ext>
            </a:extLst>
          </p:cNvPr>
          <p:cNvSpPr txBox="1">
            <a:spLocks/>
          </p:cNvSpPr>
          <p:nvPr/>
        </p:nvSpPr>
        <p:spPr>
          <a:xfrm>
            <a:off x="0" y="1117381"/>
            <a:ext cx="3987384" cy="13197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Per famiglia di prodotti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8B3E-7283-9693-A279-A907F3AF33E9}"/>
              </a:ext>
            </a:extLst>
          </p:cNvPr>
          <p:cNvSpPr txBox="1">
            <a:spLocks/>
          </p:cNvSpPr>
          <p:nvPr/>
        </p:nvSpPr>
        <p:spPr>
          <a:xfrm>
            <a:off x="4107305" y="1262220"/>
            <a:ext cx="7246495" cy="1074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Volumi paragonabili</a:t>
            </a:r>
          </a:p>
          <a:p>
            <a:r>
              <a:rPr lang="it-IT" dirty="0">
                <a:latin typeface="Berlin Sans FB" panose="020E0602020502020306" pitchFamily="34" charset="0"/>
              </a:rPr>
              <a:t>Rese differenti ma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intrinseche</a:t>
            </a:r>
            <a:endParaRPr lang="it-IT" dirty="0">
              <a:latin typeface="Berlin Sans FB" panose="020E0602020502020306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F9BF18-0064-0C01-069E-F9FA2FB63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0" y="2557006"/>
            <a:ext cx="12184119" cy="430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73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79289-BD99-AAEC-B0AA-3AE7BCA1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CAC499-7F29-61FD-F94A-1C5927BB43DC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EF242-B8AE-64BB-5D77-C6835D90F6D7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307DF-4652-A8DD-12CC-2F5D807B4EFA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61210-5EB1-6E9F-97FB-56DD129D5B25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320E6-7F22-DF7B-AE06-5CCAA27A55DC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E08110-7B0F-A35B-A6EC-78F62E3F3AE4}"/>
              </a:ext>
            </a:extLst>
          </p:cNvPr>
          <p:cNvSpPr/>
          <p:nvPr/>
        </p:nvSpPr>
        <p:spPr>
          <a:xfrm>
            <a:off x="2870827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35E96A-1F8D-54B5-D272-810341DCD56E}"/>
              </a:ext>
            </a:extLst>
          </p:cNvPr>
          <p:cNvSpPr txBox="1">
            <a:spLocks/>
          </p:cNvSpPr>
          <p:nvPr/>
        </p:nvSpPr>
        <p:spPr>
          <a:xfrm>
            <a:off x="0" y="1117381"/>
            <a:ext cx="3987384" cy="13197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Per famiglia e formato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37D9-87CE-39E6-EC7F-E6FB0BD2FB83}"/>
              </a:ext>
            </a:extLst>
          </p:cNvPr>
          <p:cNvSpPr txBox="1">
            <a:spLocks/>
          </p:cNvSpPr>
          <p:nvPr/>
        </p:nvSpPr>
        <p:spPr>
          <a:xfrm>
            <a:off x="4004872" y="1207321"/>
            <a:ext cx="8183187" cy="14096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 dirty="0">
                <a:latin typeface="Berlin Sans FB" panose="020E0602020502020306" pitchFamily="34" charset="0"/>
              </a:rPr>
              <a:t>Volumi </a:t>
            </a:r>
            <a:r>
              <a:rPr lang="it-IT" sz="24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maggiori</a:t>
            </a:r>
            <a:r>
              <a:rPr lang="it-IT" sz="2400" dirty="0">
                <a:latin typeface="Berlin Sans FB" panose="020E0602020502020306" pitchFamily="34" charset="0"/>
              </a:rPr>
              <a:t> per i formati a 90 e 100 g (tutti i prodotti) </a:t>
            </a:r>
          </a:p>
          <a:p>
            <a:r>
              <a:rPr lang="it-IT" sz="2400" dirty="0">
                <a:latin typeface="Berlin Sans FB" panose="020E0602020502020306" pitchFamily="34" charset="0"/>
              </a:rPr>
              <a:t>Rese differenti ma intrinseche</a:t>
            </a:r>
          </a:p>
          <a:p>
            <a:pPr lvl="1"/>
            <a:r>
              <a:rPr lang="it-IT" sz="2000" dirty="0">
                <a:latin typeface="Berlin Sans FB" panose="020E0602020502020306" pitchFamily="34" charset="0"/>
              </a:rPr>
              <a:t>Formati più piccoli hanno </a:t>
            </a:r>
            <a:r>
              <a:rPr lang="it-IT" sz="20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maggiori scarti</a:t>
            </a:r>
            <a:endParaRPr lang="it-IT" u="sng" dirty="0">
              <a:solidFill>
                <a:srgbClr val="00B4D8"/>
              </a:solidFill>
              <a:latin typeface="Berlin Sans FB" panose="020E0602020502020306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F5F6DF-430D-FE3E-858A-482E17334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0" y="2563098"/>
            <a:ext cx="12184119" cy="428880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75B03B4-499C-3DEF-F963-EE728D763152}"/>
              </a:ext>
            </a:extLst>
          </p:cNvPr>
          <p:cNvSpPr/>
          <p:nvPr/>
        </p:nvSpPr>
        <p:spPr>
          <a:xfrm rot="1288265">
            <a:off x="10598046" y="4182256"/>
            <a:ext cx="1409075" cy="191874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19477-E99D-EC7E-1099-C41A143D1C96}"/>
              </a:ext>
            </a:extLst>
          </p:cNvPr>
          <p:cNvSpPr txBox="1"/>
          <p:nvPr/>
        </p:nvSpPr>
        <p:spPr>
          <a:xfrm>
            <a:off x="2173574" y="2662269"/>
            <a:ext cx="165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7A2234"/>
                </a:solidFill>
              </a:rPr>
              <a:t>Famiglia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4BAE96-A12F-ACE9-88B3-920B35E0C75C}"/>
              </a:ext>
            </a:extLst>
          </p:cNvPr>
          <p:cNvSpPr txBox="1"/>
          <p:nvPr/>
        </p:nvSpPr>
        <p:spPr>
          <a:xfrm>
            <a:off x="8582116" y="2662269"/>
            <a:ext cx="165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7A2234"/>
                </a:solidFill>
              </a:rPr>
              <a:t>Formato</a:t>
            </a:r>
          </a:p>
        </p:txBody>
      </p:sp>
    </p:spTree>
    <p:extLst>
      <p:ext uri="{BB962C8B-B14F-4D97-AF65-F5344CB8AC3E}">
        <p14:creationId xmlns:p14="http://schemas.microsoft.com/office/powerpoint/2010/main" val="2882183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03F1-3161-1965-6E28-D7195BBE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F56924-260A-6EF3-80CC-FBA1103BABEA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AECAC-8097-7B3D-A5F5-0161C4677030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3118B-5974-A813-15D1-3FBEB719A6EA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BA7B2-5E8F-8DDF-CDC1-0709181C7CE3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E16A0-6BAC-EC49-AAC0-219221925AA6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28CD6F-9D15-912C-295E-A2E740474CE5}"/>
              </a:ext>
            </a:extLst>
          </p:cNvPr>
          <p:cNvSpPr/>
          <p:nvPr/>
        </p:nvSpPr>
        <p:spPr>
          <a:xfrm>
            <a:off x="2870827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73623-0540-8744-E175-91B068008279}"/>
              </a:ext>
            </a:extLst>
          </p:cNvPr>
          <p:cNvSpPr txBox="1">
            <a:spLocks/>
          </p:cNvSpPr>
          <p:nvPr/>
        </p:nvSpPr>
        <p:spPr>
          <a:xfrm>
            <a:off x="0" y="1117381"/>
            <a:ext cx="3987384" cy="13197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Per famiglia e turno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EBDBB2-25A1-943A-3580-801C190ED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1" y="2563098"/>
            <a:ext cx="12184116" cy="4288809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8F3B8D-0260-6FF0-81C8-67DB02D264F2}"/>
              </a:ext>
            </a:extLst>
          </p:cNvPr>
          <p:cNvSpPr txBox="1">
            <a:spLocks/>
          </p:cNvSpPr>
          <p:nvPr/>
        </p:nvSpPr>
        <p:spPr>
          <a:xfrm>
            <a:off x="4107305" y="1262220"/>
            <a:ext cx="7246495" cy="1074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Volumi paragonabili</a:t>
            </a:r>
          </a:p>
          <a:p>
            <a:r>
              <a:rPr lang="it-IT" dirty="0">
                <a:latin typeface="Berlin Sans FB" panose="020E0602020502020306" pitchFamily="34" charset="0"/>
              </a:rPr>
              <a:t>Rese differenti ma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intrinseche</a:t>
            </a:r>
            <a:endParaRPr lang="it-IT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833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C79D6-7AB2-90DC-63AF-813396E5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E19E49-E50B-AAA8-D655-833765621F11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1BA9C1-FB44-3B91-A90A-056F01C1A849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A80A17-46B5-38D8-03A3-19B703B25874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0119A-2C12-E6DD-6CD8-2ED7CF959B09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78A7E-F8D3-1032-82A3-7B32627856FE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A2E712-8A94-AD04-9183-8EFDB766607E}"/>
              </a:ext>
            </a:extLst>
          </p:cNvPr>
          <p:cNvSpPr/>
          <p:nvPr/>
        </p:nvSpPr>
        <p:spPr>
          <a:xfrm>
            <a:off x="5466000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E527E-5EAC-2469-4AA9-17A6EF8F8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46012"/>
            <a:ext cx="12192000" cy="59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54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E5A93-5D3E-6770-32E2-3240704A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A4D95C-0ECE-312A-29B5-6432AA1C988F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820FF-1D50-8B06-DD32-4EEEE4DC9831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28926-14B8-1BD3-5F3F-C6D7EE1231C6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E8688-15BD-4912-A07B-E1FB7B422D64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0EE77-AE59-A924-3430-46FE915A92E8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4A0BD-83B3-D645-A7CD-E72861B13609}"/>
              </a:ext>
            </a:extLst>
          </p:cNvPr>
          <p:cNvSpPr/>
          <p:nvPr/>
        </p:nvSpPr>
        <p:spPr>
          <a:xfrm>
            <a:off x="5466000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9B39A49-78F8-1E0C-3361-533C357764D7}"/>
              </a:ext>
            </a:extLst>
          </p:cNvPr>
          <p:cNvSpPr txBox="1">
            <a:spLocks/>
          </p:cNvSpPr>
          <p:nvPr/>
        </p:nvSpPr>
        <p:spPr>
          <a:xfrm>
            <a:off x="0" y="1117381"/>
            <a:ext cx="3987384" cy="13197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Lotti difettosi per linea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93A20B-748A-2C47-2229-FBC18FFAD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9162" y="2563098"/>
            <a:ext cx="5333674" cy="428880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39A941B-1E02-27E8-FCCF-D1B2AA691976}"/>
              </a:ext>
            </a:extLst>
          </p:cNvPr>
          <p:cNvSpPr txBox="1">
            <a:spLocks/>
          </p:cNvSpPr>
          <p:nvPr/>
        </p:nvSpPr>
        <p:spPr>
          <a:xfrm>
            <a:off x="4107305" y="1262220"/>
            <a:ext cx="7899816" cy="1074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L3 produce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più lotti difettosi</a:t>
            </a:r>
          </a:p>
          <a:p>
            <a:r>
              <a:rPr lang="it-IT" dirty="0">
                <a:latin typeface="Berlin Sans FB" panose="020E0602020502020306" pitchFamily="34" charset="0"/>
              </a:rPr>
              <a:t>Differenza evidente su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confezione</a:t>
            </a:r>
            <a:r>
              <a:rPr lang="it-IT" dirty="0">
                <a:latin typeface="Berlin Sans FB" panose="020E0602020502020306" pitchFamily="34" charset="0"/>
              </a:rPr>
              <a:t> e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tenuta vuoto</a:t>
            </a:r>
          </a:p>
        </p:txBody>
      </p:sp>
      <p:sp>
        <p:nvSpPr>
          <p:cNvPr id="13" name="Double Brace 12">
            <a:extLst>
              <a:ext uri="{FF2B5EF4-FFF2-40B4-BE49-F238E27FC236}">
                <a16:creationId xmlns:a16="http://schemas.microsoft.com/office/drawing/2014/main" id="{46C6CAAE-595E-9438-7390-1E507F8EF29B}"/>
              </a:ext>
            </a:extLst>
          </p:cNvPr>
          <p:cNvSpPr/>
          <p:nvPr/>
        </p:nvSpPr>
        <p:spPr>
          <a:xfrm>
            <a:off x="6393222" y="2843202"/>
            <a:ext cx="917217" cy="919173"/>
          </a:xfrm>
          <a:prstGeom prst="bracePair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Double Brace 13">
            <a:extLst>
              <a:ext uri="{FF2B5EF4-FFF2-40B4-BE49-F238E27FC236}">
                <a16:creationId xmlns:a16="http://schemas.microsoft.com/office/drawing/2014/main" id="{E0234F10-2A4F-43E6-FE8F-10B680B5FBC0}"/>
              </a:ext>
            </a:extLst>
          </p:cNvPr>
          <p:cNvSpPr/>
          <p:nvPr/>
        </p:nvSpPr>
        <p:spPr>
          <a:xfrm>
            <a:off x="6393221" y="5327650"/>
            <a:ext cx="917217" cy="949325"/>
          </a:xfrm>
          <a:prstGeom prst="bracePair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0209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5E86E-9268-4C37-6927-6DAEE270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5F8629-902D-4064-7904-881DF2D22B28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92255-5CD5-818C-7536-7091D9E342BD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87493-91D7-5C5D-95BE-26310F12F92B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76C1B-BA68-062E-5ED4-28E13D2AE679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5DF1B-F52F-45E1-A630-731E154F3C84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BBA45C-86AD-6C67-F637-C91E55277050}"/>
              </a:ext>
            </a:extLst>
          </p:cNvPr>
          <p:cNvSpPr/>
          <p:nvPr/>
        </p:nvSpPr>
        <p:spPr>
          <a:xfrm>
            <a:off x="5466000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C038BA4-FCC6-AD5A-B534-D3FF74DBFB7E}"/>
              </a:ext>
            </a:extLst>
          </p:cNvPr>
          <p:cNvSpPr txBox="1">
            <a:spLocks/>
          </p:cNvSpPr>
          <p:nvPr/>
        </p:nvSpPr>
        <p:spPr>
          <a:xfrm>
            <a:off x="0" y="1117381"/>
            <a:ext cx="3987384" cy="13197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Lotti difettosi per linea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275D22-E982-4159-32A7-B03D1BFF2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2147" y="1554364"/>
            <a:ext cx="8509853" cy="530363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73D02B6-3715-AEC0-9B68-E8007DCF8934}"/>
              </a:ext>
            </a:extLst>
          </p:cNvPr>
          <p:cNvSpPr txBox="1">
            <a:spLocks/>
          </p:cNvSpPr>
          <p:nvPr/>
        </p:nvSpPr>
        <p:spPr>
          <a:xfrm>
            <a:off x="457200" y="2680454"/>
            <a:ext cx="2713219" cy="10094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dirty="0">
                <a:latin typeface="Berlin Sans FB" panose="020E0602020502020306" pitchFamily="34" charset="0"/>
              </a:rPr>
              <a:t>L3 più difettosa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costantemente</a:t>
            </a:r>
          </a:p>
        </p:txBody>
      </p:sp>
    </p:spTree>
    <p:extLst>
      <p:ext uri="{BB962C8B-B14F-4D97-AF65-F5344CB8AC3E}">
        <p14:creationId xmlns:p14="http://schemas.microsoft.com/office/powerpoint/2010/main" val="3082920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62FF-8A26-640D-9564-7EEFBBF64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23DF6A-0867-4624-046F-0C1530BB11A9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A06D4-5D97-1184-CC2C-9CF256945D50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4CCCC-87A0-1229-5D90-7FBC9CA9A073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500F6E-5DB7-B9E7-FC5B-01AE26E7EFEF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064AF-CC4F-9492-F4CD-9F9637881578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E4F029-6D5C-6A30-8F9D-DFCD824DE5C8}"/>
              </a:ext>
            </a:extLst>
          </p:cNvPr>
          <p:cNvSpPr/>
          <p:nvPr/>
        </p:nvSpPr>
        <p:spPr>
          <a:xfrm>
            <a:off x="5466000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D73DAD4-45CE-EA24-A942-6D1E0FFC7ABB}"/>
              </a:ext>
            </a:extLst>
          </p:cNvPr>
          <p:cNvSpPr txBox="1">
            <a:spLocks/>
          </p:cNvSpPr>
          <p:nvPr/>
        </p:nvSpPr>
        <p:spPr>
          <a:xfrm>
            <a:off x="0" y="1117381"/>
            <a:ext cx="3987384" cy="13197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Per famiglia e linea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AC3B11-7AC2-427C-DB3E-23DBDEA83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2148" y="1554364"/>
            <a:ext cx="8509850" cy="530363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1A53276-F910-5C72-833A-70FFE78D5815}"/>
              </a:ext>
            </a:extLst>
          </p:cNvPr>
          <p:cNvSpPr txBox="1">
            <a:spLocks/>
          </p:cNvSpPr>
          <p:nvPr/>
        </p:nvSpPr>
        <p:spPr>
          <a:xfrm>
            <a:off x="0" y="2680454"/>
            <a:ext cx="3432748" cy="40501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dirty="0">
                <a:latin typeface="Berlin Sans FB" panose="020E0602020502020306" pitchFamily="34" charset="0"/>
              </a:rPr>
              <a:t>Emergono differenze fra i prodotti in termini di distribuzione dei difetti:</a:t>
            </a:r>
          </a:p>
          <a:p>
            <a:r>
              <a:rPr lang="it-IT" sz="24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Tutte le famiglie</a:t>
            </a:r>
            <a:r>
              <a:rPr lang="it-IT" sz="2400" dirty="0">
                <a:latin typeface="Berlin Sans FB" panose="020E0602020502020306" pitchFamily="34" charset="0"/>
              </a:rPr>
              <a:t> hanno problemi su L3</a:t>
            </a:r>
          </a:p>
          <a:p>
            <a:r>
              <a:rPr lang="it-IT" sz="24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L4</a:t>
            </a:r>
            <a:r>
              <a:rPr lang="it-IT" sz="2400" dirty="0">
                <a:latin typeface="Berlin Sans FB" panose="020E0602020502020306" pitchFamily="34" charset="0"/>
              </a:rPr>
              <a:t> non ha difetti visivi su magatello e non ha problemi di tenuta vuoto su </a:t>
            </a:r>
            <a:r>
              <a:rPr lang="it-IT" sz="2400" dirty="0" err="1">
                <a:latin typeface="Berlin Sans FB" panose="020E0602020502020306" pitchFamily="34" charset="0"/>
              </a:rPr>
              <a:t>sottofesa</a:t>
            </a:r>
            <a:endParaRPr lang="it-IT" sz="2400" dirty="0">
              <a:latin typeface="Berlin Sans FB" panose="020E0602020502020306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E087AF-DDD8-F11E-D5F7-C054F8DCD3B8}"/>
              </a:ext>
            </a:extLst>
          </p:cNvPr>
          <p:cNvSpPr/>
          <p:nvPr/>
        </p:nvSpPr>
        <p:spPr>
          <a:xfrm>
            <a:off x="11334750" y="2482850"/>
            <a:ext cx="672372" cy="1656024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51BE92A-0C96-AB7B-B359-AFD5B412BBC3}"/>
              </a:ext>
            </a:extLst>
          </p:cNvPr>
          <p:cNvSpPr/>
          <p:nvPr/>
        </p:nvSpPr>
        <p:spPr>
          <a:xfrm>
            <a:off x="11320236" y="5576888"/>
            <a:ext cx="672372" cy="115369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5649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3" grpId="0" animBg="1"/>
      <p:bldP spid="1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AD06-B3DC-05C5-00EF-BC964866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35AB7D-7794-8D49-1829-54461BD8D32D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C833B-BEE1-C5F8-C49C-B794E785F089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89057-C875-3145-9BDA-146EBA4773D8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0C53B-34A3-1667-F0CB-F33AF9E9181F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AF0C77-0F7A-73F0-1F28-FF06E8E73478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B11D3-8DFF-736D-C59B-B12131A29000}"/>
              </a:ext>
            </a:extLst>
          </p:cNvPr>
          <p:cNvSpPr/>
          <p:nvPr/>
        </p:nvSpPr>
        <p:spPr>
          <a:xfrm>
            <a:off x="7399731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67882-92A6-8CC1-C9C3-6CA07B463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46012"/>
            <a:ext cx="12192000" cy="59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4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D8A3A-F98E-5612-C2B2-98D524AC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3BC3DD-DCAB-FBE0-8FEA-FC45D4E9FCDB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E6FC1-B46A-EBB4-F607-39C2021748FF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C308A-BB4F-A07E-B9DE-DAD91DB0A901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1F516-BDC0-D573-D582-1D7EC1235204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E561F-6F99-26C0-8C28-AE4B4484AE68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A8DB3E-CC28-97B9-AEA2-841C4BC21EFC}"/>
              </a:ext>
            </a:extLst>
          </p:cNvPr>
          <p:cNvSpPr/>
          <p:nvPr/>
        </p:nvSpPr>
        <p:spPr>
          <a:xfrm>
            <a:off x="7399731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1CF74-39FB-8D91-6B96-0EA9E942B0BD}"/>
              </a:ext>
            </a:extLst>
          </p:cNvPr>
          <p:cNvSpPr txBox="1">
            <a:spLocks/>
          </p:cNvSpPr>
          <p:nvPr/>
        </p:nvSpPr>
        <p:spPr>
          <a:xfrm>
            <a:off x="838200" y="1357221"/>
            <a:ext cx="3149184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Per linea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D9532A-795F-4F18-6E07-BED82485BF0B}"/>
              </a:ext>
            </a:extLst>
          </p:cNvPr>
          <p:cNvSpPr txBox="1">
            <a:spLocks/>
          </p:cNvSpPr>
          <p:nvPr/>
        </p:nvSpPr>
        <p:spPr>
          <a:xfrm>
            <a:off x="4107305" y="1262220"/>
            <a:ext cx="7246495" cy="1074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Numero di fermi paragonabili</a:t>
            </a:r>
          </a:p>
          <a:p>
            <a:r>
              <a:rPr lang="it-IT" dirty="0">
                <a:latin typeface="Berlin Sans FB" panose="020E0602020502020306" pitchFamily="34" charset="0"/>
              </a:rPr>
              <a:t>Durata cambi formato molto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maggiore</a:t>
            </a:r>
            <a:r>
              <a:rPr lang="it-IT" dirty="0">
                <a:latin typeface="Berlin Sans FB" panose="020E0602020502020306" pitchFamily="34" charset="0"/>
              </a:rPr>
              <a:t> su L3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991890-6A8E-02AC-2CBB-986FF8CBF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0" y="2557006"/>
            <a:ext cx="12184119" cy="4300993"/>
          </a:xfrm>
          <a:prstGeom prst="rect">
            <a:avLst/>
          </a:prstGeom>
        </p:spPr>
      </p:pic>
      <p:sp>
        <p:nvSpPr>
          <p:cNvPr id="12" name="Double Brace 11">
            <a:extLst>
              <a:ext uri="{FF2B5EF4-FFF2-40B4-BE49-F238E27FC236}">
                <a16:creationId xmlns:a16="http://schemas.microsoft.com/office/drawing/2014/main" id="{2BE03CD4-4105-060B-9C23-53D78485855B}"/>
              </a:ext>
            </a:extLst>
          </p:cNvPr>
          <p:cNvSpPr/>
          <p:nvPr/>
        </p:nvSpPr>
        <p:spPr>
          <a:xfrm>
            <a:off x="8685131" y="4514850"/>
            <a:ext cx="763669" cy="1320800"/>
          </a:xfrm>
          <a:prstGeom prst="bracePair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8141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E1AC-2D5D-C1FD-A978-4D51D7C2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7F73D6-2C82-F812-DF3D-330B907181E9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14E94-D0F7-94A8-0599-3BC2A84CDE3C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EA848-1461-984F-DF13-3876377D0280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946A2-6B4C-E830-3FE3-8FD66F180F56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146C4-3F3D-74A5-FFB2-E2201CB1B64D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F54EFF-931A-5682-3826-9190E3F6E038}"/>
              </a:ext>
            </a:extLst>
          </p:cNvPr>
          <p:cNvSpPr/>
          <p:nvPr/>
        </p:nvSpPr>
        <p:spPr>
          <a:xfrm>
            <a:off x="7399731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15FF0-3842-5A61-3E7C-DA032A70E161}"/>
              </a:ext>
            </a:extLst>
          </p:cNvPr>
          <p:cNvSpPr txBox="1">
            <a:spLocks/>
          </p:cNvSpPr>
          <p:nvPr/>
        </p:nvSpPr>
        <p:spPr>
          <a:xfrm>
            <a:off x="838200" y="1357221"/>
            <a:ext cx="3149184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Linea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B7B263-9928-D607-FFDF-31015A273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9629" y="2106949"/>
            <a:ext cx="6152741" cy="475105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C285-8CD4-BF45-3675-89E3499F55A7}"/>
              </a:ext>
            </a:extLst>
          </p:cNvPr>
          <p:cNvSpPr txBox="1">
            <a:spLocks/>
          </p:cNvSpPr>
          <p:nvPr/>
        </p:nvSpPr>
        <p:spPr>
          <a:xfrm>
            <a:off x="4107305" y="1494571"/>
            <a:ext cx="7246495" cy="523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La situazione è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invariata nel tempo</a:t>
            </a:r>
          </a:p>
        </p:txBody>
      </p:sp>
    </p:spTree>
    <p:extLst>
      <p:ext uri="{BB962C8B-B14F-4D97-AF65-F5344CB8AC3E}">
        <p14:creationId xmlns:p14="http://schemas.microsoft.com/office/powerpoint/2010/main" val="1930789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3489-5CF2-3468-0D42-C518AB399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F91C5A-2E30-6336-4E5E-E8C71F466572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5A6C2-BB45-05EF-CFC5-68501A77FF1A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8AF6B-83C3-6320-F264-0CCC027F92AA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C1FEC-A4E0-8172-A514-CEDE85C5057F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34062-B406-B1BD-0D72-3078F66C38D8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A07369-118E-9BBF-F71D-0DED4898B387}"/>
              </a:ext>
            </a:extLst>
          </p:cNvPr>
          <p:cNvSpPr/>
          <p:nvPr/>
        </p:nvSpPr>
        <p:spPr>
          <a:xfrm>
            <a:off x="7399731" y="838013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765A9-1060-2CDB-4E8B-B02D952FA416}"/>
              </a:ext>
            </a:extLst>
          </p:cNvPr>
          <p:cNvSpPr txBox="1">
            <a:spLocks/>
          </p:cNvSpPr>
          <p:nvPr/>
        </p:nvSpPr>
        <p:spPr>
          <a:xfrm>
            <a:off x="389744" y="1357221"/>
            <a:ext cx="3597640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Per famiglia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903462-211A-7FEF-1BDB-55DB0A154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9629" y="2640685"/>
            <a:ext cx="6152741" cy="42173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E9292-A1C1-889F-DDBA-31A01EE420CA}"/>
              </a:ext>
            </a:extLst>
          </p:cNvPr>
          <p:cNvSpPr txBox="1">
            <a:spLocks/>
          </p:cNvSpPr>
          <p:nvPr/>
        </p:nvSpPr>
        <p:spPr>
          <a:xfrm>
            <a:off x="4107305" y="1494571"/>
            <a:ext cx="7246495" cy="523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Durate dei fermi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paragonabili</a:t>
            </a:r>
          </a:p>
        </p:txBody>
      </p:sp>
    </p:spTree>
    <p:extLst>
      <p:ext uri="{BB962C8B-B14F-4D97-AF65-F5344CB8AC3E}">
        <p14:creationId xmlns:p14="http://schemas.microsoft.com/office/powerpoint/2010/main" val="3366339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B7ED6-9CBC-7A7A-F2A4-264B0183E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9C6D4D-5C54-0858-3E43-326E00720D4D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1D826-1C0E-E9BA-8575-6FF4896D9E9A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7AE82-A029-4B6B-75D4-A12C621C3331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329C4-F7AF-CACD-7E9F-316E6B757AC5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F4023-F796-FC6C-B319-175D39A5B8F1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5DA94D-FA13-51C7-D2FE-515CE42DBCF2}"/>
              </a:ext>
            </a:extLst>
          </p:cNvPr>
          <p:cNvSpPr/>
          <p:nvPr/>
        </p:nvSpPr>
        <p:spPr>
          <a:xfrm>
            <a:off x="10264727" y="821587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D41104-BB7E-DACE-0A8D-3E90BFB3B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46012"/>
            <a:ext cx="12192000" cy="59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6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E4705-4ADD-7153-FB05-7CF6219D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B8749B-C423-8598-D9AC-258AA3268D70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2197B-E8E8-4A50-6AB7-5CDA34E23586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5D497-F09E-4D0A-AAB4-2408A5DB27DB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77618-D682-B48A-A9B5-01DA820C339C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21228-3B40-CE54-5628-32B6AC39471A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D03B85-7445-1D01-E922-AD858BD6CE11}"/>
              </a:ext>
            </a:extLst>
          </p:cNvPr>
          <p:cNvSpPr/>
          <p:nvPr/>
        </p:nvSpPr>
        <p:spPr>
          <a:xfrm>
            <a:off x="10264727" y="821587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3A5F802B-FAC9-F5CF-3CA5-3735F84617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1201612"/>
              </p:ext>
            </p:extLst>
          </p:nvPr>
        </p:nvGraphicFramePr>
        <p:xfrm>
          <a:off x="159270" y="2167158"/>
          <a:ext cx="11873460" cy="43230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936730">
                  <a:extLst>
                    <a:ext uri="{9D8B030D-6E8A-4147-A177-3AD203B41FA5}">
                      <a16:colId xmlns:a16="http://schemas.microsoft.com/office/drawing/2014/main" val="3531774310"/>
                    </a:ext>
                  </a:extLst>
                </a:gridCol>
                <a:gridCol w="5936730">
                  <a:extLst>
                    <a:ext uri="{9D8B030D-6E8A-4147-A177-3AD203B41FA5}">
                      <a16:colId xmlns:a16="http://schemas.microsoft.com/office/drawing/2014/main" val="4094952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erlin Sans FB Demi" panose="020E0802020502020306" pitchFamily="34" charset="0"/>
                        </a:rPr>
                        <a:t>Situazione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erlin Sans FB Demi" panose="020E0802020502020306" pitchFamily="34" charset="0"/>
                        </a:rPr>
                        <a:t>Valutazione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848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Berlin Sans FB Demi" panose="020E0802020502020306" pitchFamily="34" charset="0"/>
                        </a:rPr>
                        <a:t>Le linee processano volumi paragonabili di prodotti, e ogni famiglia di prodotti è processata in modo uniforme tra le linee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b="1" dirty="0">
                          <a:solidFill>
                            <a:srgbClr val="00B050"/>
                          </a:solidFill>
                          <a:latin typeface="Berlin Sans FB Demi" panose="020E0802020502020306" pitchFamily="34" charset="0"/>
                        </a:rPr>
                        <a:t>Linee intercambiabili nel processare i prodotti (minore rischio di business </a:t>
                      </a:r>
                      <a:r>
                        <a:rPr lang="it-IT" sz="1600" b="1" dirty="0" err="1">
                          <a:solidFill>
                            <a:srgbClr val="00B050"/>
                          </a:solidFill>
                          <a:latin typeface="Berlin Sans FB Demi" panose="020E0802020502020306" pitchFamily="34" charset="0"/>
                        </a:rPr>
                        <a:t>continuity</a:t>
                      </a:r>
                      <a:r>
                        <a:rPr lang="it-IT" sz="1600" b="1" dirty="0">
                          <a:solidFill>
                            <a:srgbClr val="00B050"/>
                          </a:solidFill>
                          <a:latin typeface="Berlin Sans FB Demi" panose="020E0802020502020306" pitchFamily="34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17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Berlin Sans FB Demi" panose="020E0802020502020306" pitchFamily="34" charset="0"/>
                        </a:rPr>
                        <a:t>Le rese delle linee sono stabili nel tempo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b="1" dirty="0">
                          <a:solidFill>
                            <a:srgbClr val="00B050"/>
                          </a:solidFill>
                          <a:latin typeface="Berlin Sans FB Demi" panose="020E0802020502020306" pitchFamily="34" charset="0"/>
                        </a:rPr>
                        <a:t>Processo stabile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619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Berlin Sans FB Demi" panose="020E0802020502020306" pitchFamily="34" charset="0"/>
                        </a:rPr>
                        <a:t>I prodotti hanno rese leggermente differenti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b="0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Situazione intrinseca dovuto a differenze nella lavorazione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23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Berlin Sans FB Demi" panose="020E0802020502020306" pitchFamily="34" charset="0"/>
                        </a:rPr>
                        <a:t>I formati hanno rese diverse (quelli piccoli producono più scarti)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b="0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Situazione intrinseca dovuto a differenze nella lavorazione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140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Berlin Sans FB Demi" panose="020E0802020502020306" pitchFamily="34" charset="0"/>
                        </a:rPr>
                        <a:t>Durante i controlli su L4, per alcuni prodotti non ci sono alcune tipologie di difetti di produzione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1600" b="1" dirty="0">
                          <a:solidFill>
                            <a:srgbClr val="00B050"/>
                          </a:solidFill>
                          <a:latin typeface="Berlin Sans FB Demi" panose="020E0802020502020306" pitchFamily="34" charset="0"/>
                        </a:rPr>
                        <a:t>Riferimento per calibrazioni o miglioramenti delle linee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1600" b="1" dirty="0">
                          <a:solidFill>
                            <a:srgbClr val="00B050"/>
                          </a:solidFill>
                          <a:latin typeface="Berlin Sans FB Demi" panose="020E0802020502020306" pitchFamily="34" charset="0"/>
                        </a:rPr>
                        <a:t>Modifiche al planning per ridurre scarti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612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Berlin Sans FB Demi" panose="020E0802020502020306" pitchFamily="34" charset="0"/>
                        </a:rPr>
                        <a:t>Il turno notturno processa bassi volumi e ha resa inferiore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b="1" dirty="0">
                          <a:solidFill>
                            <a:srgbClr val="FF0000"/>
                          </a:solidFill>
                          <a:latin typeface="Berlin Sans FB Demi" panose="020E0802020502020306" pitchFamily="34" charset="0"/>
                        </a:rPr>
                        <a:t>Riduzione del margine (meno fatturato, costi aumentati)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23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Berlin Sans FB Demi" panose="020E0802020502020306" pitchFamily="34" charset="0"/>
                        </a:rPr>
                        <a:t>Linea 3 resa inferiore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1600" b="1" dirty="0">
                          <a:solidFill>
                            <a:srgbClr val="FF0000"/>
                          </a:solidFill>
                          <a:latin typeface="Berlin Sans FB Demi" panose="020E0802020502020306" pitchFamily="34" charset="0"/>
                        </a:rPr>
                        <a:t>Più difetti (confezionamento e sottovuoto)</a:t>
                      </a: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1600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Stabile nel tempo, non aumentata</a:t>
                      </a: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it-IT" sz="1600" b="1" dirty="0">
                          <a:solidFill>
                            <a:srgbClr val="FF0000"/>
                          </a:solidFill>
                          <a:latin typeface="Berlin Sans FB Demi" panose="020E0802020502020306" pitchFamily="34" charset="0"/>
                        </a:rPr>
                        <a:t>Stesso numero di fermi macchina ma più lunghi e principalmente dovuti al cambio formato (indipendentemente dal prodotto)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610623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CDD567F9-E06B-B842-1A38-63E13A04C1B7}"/>
              </a:ext>
            </a:extLst>
          </p:cNvPr>
          <p:cNvSpPr txBox="1">
            <a:spLocks/>
          </p:cNvSpPr>
          <p:nvPr/>
        </p:nvSpPr>
        <p:spPr>
          <a:xfrm>
            <a:off x="4297180" y="1067871"/>
            <a:ext cx="3597640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Risultati</a:t>
            </a:r>
          </a:p>
        </p:txBody>
      </p:sp>
    </p:spTree>
    <p:extLst>
      <p:ext uri="{BB962C8B-B14F-4D97-AF65-F5344CB8AC3E}">
        <p14:creationId xmlns:p14="http://schemas.microsoft.com/office/powerpoint/2010/main" val="2398127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59DB-472F-E8C4-9185-8CE01B7B7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618BF0-AC84-3132-8FC2-ED8B3A7A2D0C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D8D32-00C9-455B-E34A-6F058D739385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62A44-E6FD-A386-D234-BA0E36748C54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0D512-6854-411E-626E-378A543E1149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B0D13F-C67A-5209-EC08-8849168798B1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88384D-07BC-D7A9-F26E-3D07BD9BE1BF}"/>
              </a:ext>
            </a:extLst>
          </p:cNvPr>
          <p:cNvSpPr/>
          <p:nvPr/>
        </p:nvSpPr>
        <p:spPr>
          <a:xfrm>
            <a:off x="10264727" y="821587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8ADDAF-85B5-54BD-AC82-4025BFAAE807}"/>
              </a:ext>
            </a:extLst>
          </p:cNvPr>
          <p:cNvSpPr txBox="1">
            <a:spLocks/>
          </p:cNvSpPr>
          <p:nvPr/>
        </p:nvSpPr>
        <p:spPr>
          <a:xfrm>
            <a:off x="3385278" y="1022900"/>
            <a:ext cx="5421443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Modifiche al </a:t>
            </a:r>
            <a:r>
              <a:rPr lang="it-IT" i="1" dirty="0">
                <a:solidFill>
                  <a:srgbClr val="7A2234"/>
                </a:solidFill>
                <a:latin typeface="Berlin Sans FB" panose="020E0602020502020306" pitchFamily="34" charset="0"/>
              </a:rPr>
              <a:t>planning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1CF957-361B-6B6D-82EC-E7389163F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2" y="2522956"/>
            <a:ext cx="6068608" cy="37076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4BA087-1B4A-911C-5976-0D5376758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744" y="2551580"/>
            <a:ext cx="5976256" cy="430642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FAEE50-198F-347E-3715-6AEF5A2329AC}"/>
              </a:ext>
            </a:extLst>
          </p:cNvPr>
          <p:cNvCxnSpPr>
            <a:cxnSpLocks/>
          </p:cNvCxnSpPr>
          <p:nvPr/>
        </p:nvCxnSpPr>
        <p:spPr>
          <a:xfrm flipV="1">
            <a:off x="3385278" y="3237875"/>
            <a:ext cx="976860" cy="1911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2BBBAF-D1AA-131E-64BD-37940C325E68}"/>
              </a:ext>
            </a:extLst>
          </p:cNvPr>
          <p:cNvCxnSpPr>
            <a:cxnSpLocks/>
          </p:cNvCxnSpPr>
          <p:nvPr/>
        </p:nvCxnSpPr>
        <p:spPr>
          <a:xfrm flipH="1">
            <a:off x="3192905" y="5456420"/>
            <a:ext cx="11692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71CAD6F-376F-C573-BFC9-1C02274540DF}"/>
              </a:ext>
            </a:extLst>
          </p:cNvPr>
          <p:cNvSpPr/>
          <p:nvPr/>
        </p:nvSpPr>
        <p:spPr>
          <a:xfrm>
            <a:off x="5189095" y="3942413"/>
            <a:ext cx="906905" cy="64457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D2B0EC-21F6-4790-B02E-9B0681D6961D}"/>
              </a:ext>
            </a:extLst>
          </p:cNvPr>
          <p:cNvSpPr txBox="1"/>
          <p:nvPr/>
        </p:nvSpPr>
        <p:spPr>
          <a:xfrm>
            <a:off x="2325973" y="1682208"/>
            <a:ext cx="7540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Berlin Sans FB" panose="020E0602020502020306" pitchFamily="34" charset="0"/>
              </a:rPr>
              <a:t>Sottofesa</a:t>
            </a:r>
            <a:r>
              <a:rPr lang="it-IT" sz="2400" dirty="0">
                <a:latin typeface="Berlin Sans FB" panose="020E0602020502020306" pitchFamily="34" charset="0"/>
              </a:rPr>
              <a:t> su </a:t>
            </a:r>
            <a:r>
              <a:rPr lang="it-IT" sz="24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L4</a:t>
            </a:r>
            <a:endParaRPr lang="it-IT" sz="2800" u="sng" dirty="0">
              <a:solidFill>
                <a:srgbClr val="00B4D8"/>
              </a:solidFill>
              <a:latin typeface="Berlin Sans FB" panose="020E0602020502020306" pitchFamily="34" charset="0"/>
            </a:endParaRPr>
          </a:p>
          <a:p>
            <a:pPr algn="ctr"/>
            <a:r>
              <a:rPr lang="it-IT" sz="2400" dirty="0">
                <a:latin typeface="Berlin Sans FB" panose="020E0602020502020306" pitchFamily="34" charset="0"/>
              </a:rPr>
              <a:t>Fesa su </a:t>
            </a:r>
            <a:r>
              <a:rPr lang="it-IT" sz="24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L3</a:t>
            </a:r>
            <a:r>
              <a:rPr lang="it-IT" sz="2400" dirty="0">
                <a:latin typeface="Berlin Sans FB" panose="020E0602020502020306" pitchFamily="34" charset="0"/>
              </a:rPr>
              <a:t> per compensare con minimo aumento di difetti</a:t>
            </a:r>
          </a:p>
        </p:txBody>
      </p:sp>
    </p:spTree>
    <p:extLst>
      <p:ext uri="{BB962C8B-B14F-4D97-AF65-F5344CB8AC3E}">
        <p14:creationId xmlns:p14="http://schemas.microsoft.com/office/powerpoint/2010/main" val="2631090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6875-3D40-B284-A99D-6BE85F37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85AA46-08A4-95F3-77D2-D2B85FA31257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9355A-08E3-325C-CDF0-C454F80701F0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0755A-6143-B641-BAC2-39BF048D0763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FF062A-15AA-E154-3B8F-EFB7E8E60DAA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946E89-49C2-D967-02EF-02F28814BCAB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62EFE3-ED5A-F72E-DEB0-2E019D42854C}"/>
              </a:ext>
            </a:extLst>
          </p:cNvPr>
          <p:cNvSpPr/>
          <p:nvPr/>
        </p:nvSpPr>
        <p:spPr>
          <a:xfrm>
            <a:off x="10264727" y="821587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D2D4906-B6E2-4E33-5B92-B32F41ADECBF}"/>
              </a:ext>
            </a:extLst>
          </p:cNvPr>
          <p:cNvSpPr txBox="1">
            <a:spLocks/>
          </p:cNvSpPr>
          <p:nvPr/>
        </p:nvSpPr>
        <p:spPr>
          <a:xfrm>
            <a:off x="3385278" y="1022900"/>
            <a:ext cx="5421443" cy="6445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Modifiche al </a:t>
            </a:r>
            <a:r>
              <a:rPr lang="it-IT" i="1" dirty="0">
                <a:solidFill>
                  <a:srgbClr val="7A2234"/>
                </a:solidFill>
                <a:latin typeface="Berlin Sans FB" panose="020E0602020502020306" pitchFamily="34" charset="0"/>
              </a:rPr>
              <a:t>planning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4F9053-57B2-1955-5B3D-5F4A4780454C}"/>
              </a:ext>
            </a:extLst>
          </p:cNvPr>
          <p:cNvSpPr txBox="1"/>
          <p:nvPr/>
        </p:nvSpPr>
        <p:spPr>
          <a:xfrm>
            <a:off x="2325973" y="1682208"/>
            <a:ext cx="7540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Berlin Sans FB" panose="020E0602020502020306" pitchFamily="34" charset="0"/>
              </a:rPr>
              <a:t>Sottofesa</a:t>
            </a:r>
            <a:r>
              <a:rPr lang="it-IT" sz="2400" dirty="0">
                <a:latin typeface="Berlin Sans FB" panose="020E0602020502020306" pitchFamily="34" charset="0"/>
              </a:rPr>
              <a:t> su </a:t>
            </a:r>
            <a:r>
              <a:rPr lang="it-IT" sz="24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L4</a:t>
            </a:r>
            <a:endParaRPr lang="it-IT" sz="2800" u="sng" dirty="0">
              <a:solidFill>
                <a:srgbClr val="00B4D8"/>
              </a:solidFill>
              <a:latin typeface="Berlin Sans FB" panose="020E0602020502020306" pitchFamily="34" charset="0"/>
            </a:endParaRPr>
          </a:p>
          <a:p>
            <a:pPr algn="ctr"/>
            <a:r>
              <a:rPr lang="it-IT" sz="2400" dirty="0">
                <a:latin typeface="Berlin Sans FB" panose="020E0602020502020306" pitchFamily="34" charset="0"/>
              </a:rPr>
              <a:t>Fesa su </a:t>
            </a:r>
            <a:r>
              <a:rPr lang="it-IT" sz="24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L3</a:t>
            </a:r>
            <a:r>
              <a:rPr lang="it-IT" sz="2400" dirty="0">
                <a:latin typeface="Berlin Sans FB" panose="020E0602020502020306" pitchFamily="34" charset="0"/>
              </a:rPr>
              <a:t> per compensare con minimo aumento di difetti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2A43D6-F9B2-B51B-50D0-05E8A913B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643947"/>
              </p:ext>
            </p:extLst>
          </p:nvPr>
        </p:nvGraphicFramePr>
        <p:xfrm>
          <a:off x="864432" y="3147537"/>
          <a:ext cx="10463134" cy="16154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636366">
                  <a:extLst>
                    <a:ext uri="{9D8B030D-6E8A-4147-A177-3AD203B41FA5}">
                      <a16:colId xmlns:a16="http://schemas.microsoft.com/office/drawing/2014/main" val="2370737497"/>
                    </a:ext>
                  </a:extLst>
                </a:gridCol>
                <a:gridCol w="2606457">
                  <a:extLst>
                    <a:ext uri="{9D8B030D-6E8A-4147-A177-3AD203B41FA5}">
                      <a16:colId xmlns:a16="http://schemas.microsoft.com/office/drawing/2014/main" val="3069765620"/>
                    </a:ext>
                  </a:extLst>
                </a:gridCol>
                <a:gridCol w="3038199">
                  <a:extLst>
                    <a:ext uri="{9D8B030D-6E8A-4147-A177-3AD203B41FA5}">
                      <a16:colId xmlns:a16="http://schemas.microsoft.com/office/drawing/2014/main" val="1039592866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3690013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400" dirty="0">
                          <a:latin typeface="Berlin Sans FB Demi" panose="020E0802020502020306" pitchFamily="34" charset="0"/>
                        </a:rPr>
                        <a:t>Famiglia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latin typeface="Berlin Sans FB Demi" panose="020E0802020502020306" pitchFamily="34" charset="0"/>
                        </a:rPr>
                        <a:t>% non conformi attuale (L3 + L4)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dirty="0">
                          <a:latin typeface="Berlin Sans FB Demi" panose="020E0802020502020306" pitchFamily="34" charset="0"/>
                        </a:rPr>
                        <a:t>% non conformi aggiornata (L3 o L4)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dirty="0">
                          <a:latin typeface="Berlin Sans FB Demi" panose="020E0802020502020306" pitchFamily="34" charset="0"/>
                        </a:rPr>
                        <a:t>Delta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265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0" dirty="0" err="1">
                          <a:latin typeface="Berlin Sans FB Demi" panose="020E0802020502020306" pitchFamily="34" charset="0"/>
                        </a:rPr>
                        <a:t>Sottofesa</a:t>
                      </a:r>
                      <a:endParaRPr lang="it-IT" sz="2000" b="0" dirty="0">
                        <a:latin typeface="Berlin Sans FB Demi" panose="020E0802020502020306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0" dirty="0">
                          <a:latin typeface="Berlin Sans FB Demi" panose="020E0802020502020306" pitchFamily="34" charset="0"/>
                        </a:rPr>
                        <a:t>3.98%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0" dirty="0">
                          <a:latin typeface="Berlin Sans FB Demi" panose="020E0802020502020306" pitchFamily="34" charset="0"/>
                        </a:rPr>
                        <a:t>2.33% (L4)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rgbClr val="00B050"/>
                          </a:solidFill>
                          <a:latin typeface="Berlin Sans FB Demi" panose="020E0802020502020306" pitchFamily="34" charset="0"/>
                        </a:rPr>
                        <a:t>-1.65%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3692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000" b="0" dirty="0">
                          <a:latin typeface="Berlin Sans FB Demi" panose="020E0802020502020306" pitchFamily="34" charset="0"/>
                        </a:rPr>
                        <a:t>Fesa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0" dirty="0">
                          <a:latin typeface="Berlin Sans FB Demi" panose="020E0802020502020306" pitchFamily="34" charset="0"/>
                        </a:rPr>
                        <a:t>5.27%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0" dirty="0">
                          <a:latin typeface="Berlin Sans FB Demi" panose="020E0802020502020306" pitchFamily="34" charset="0"/>
                        </a:rPr>
                        <a:t>6.03% (L3)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rgbClr val="FF0000"/>
                          </a:solidFill>
                          <a:latin typeface="Berlin Sans FB Demi" panose="020E0802020502020306" pitchFamily="34" charset="0"/>
                        </a:rPr>
                        <a:t>+0.76%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856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957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E966-EE7F-F712-8457-447E42BC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D046CC-0831-4A0F-070F-2A3AD271C44B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CC051-F860-BA50-6798-CA65DAA1E93B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872B1-8C2E-8FC9-7BAA-1FA7F0D63AA2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1E6F5-F1DE-E031-41C2-9D428CB64F03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D795C-60A2-2E3F-0FBE-1DD41A8C8C6F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DB1832-86EA-2291-4FBA-9D18595712F3}"/>
              </a:ext>
            </a:extLst>
          </p:cNvPr>
          <p:cNvSpPr/>
          <p:nvPr/>
        </p:nvSpPr>
        <p:spPr>
          <a:xfrm>
            <a:off x="10264727" y="821587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0D78A1-3963-1776-94BB-D8FD9EB53C3C}"/>
              </a:ext>
            </a:extLst>
          </p:cNvPr>
          <p:cNvSpPr txBox="1">
            <a:spLocks/>
          </p:cNvSpPr>
          <p:nvPr/>
        </p:nvSpPr>
        <p:spPr>
          <a:xfrm>
            <a:off x="389744" y="1087401"/>
            <a:ext cx="3597640" cy="12834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Costo annuale degli scarti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C621DB-FBE9-BA5C-21BC-720EB120F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0915" y="2640685"/>
            <a:ext cx="5830169" cy="421731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3F09FD0-0130-13C8-A694-D3E6A6E17838}"/>
              </a:ext>
            </a:extLst>
          </p:cNvPr>
          <p:cNvSpPr txBox="1">
            <a:spLocks/>
          </p:cNvSpPr>
          <p:nvPr/>
        </p:nvSpPr>
        <p:spPr>
          <a:xfrm>
            <a:off x="4107305" y="1262220"/>
            <a:ext cx="7246495" cy="1074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Berlin Sans FB" panose="020E0602020502020306" pitchFamily="34" charset="0"/>
              </a:rPr>
              <a:t>Ordine di grandezza di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€ 700-800k</a:t>
            </a:r>
          </a:p>
          <a:p>
            <a:r>
              <a:rPr lang="it-IT" dirty="0">
                <a:latin typeface="Berlin Sans FB" panose="020E0602020502020306" pitchFamily="34" charset="0"/>
              </a:rPr>
              <a:t>L3 scarta circa </a:t>
            </a: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€ 72k</a:t>
            </a:r>
            <a:r>
              <a:rPr lang="it-IT" dirty="0">
                <a:latin typeface="Berlin Sans FB" panose="020E0602020502020306" pitchFamily="34" charset="0"/>
              </a:rPr>
              <a:t> più delle altre linee</a:t>
            </a:r>
            <a:endParaRPr lang="it-IT" u="sng" dirty="0">
              <a:solidFill>
                <a:srgbClr val="00B4D8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661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F7F1-6FE7-02AB-629B-BCF84D3F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FFA490-C052-E431-99C7-AD27E700F019}"/>
              </a:ext>
            </a:extLst>
          </p:cNvPr>
          <p:cNvSpPr txBox="1"/>
          <p:nvPr/>
        </p:nvSpPr>
        <p:spPr>
          <a:xfrm>
            <a:off x="5189095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CQ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57556-7B40-11D3-E3E6-D955C2C5F2EB}"/>
              </a:ext>
            </a:extLst>
          </p:cNvPr>
          <p:cNvSpPr txBox="1"/>
          <p:nvPr/>
        </p:nvSpPr>
        <p:spPr>
          <a:xfrm>
            <a:off x="0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INTRO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3DBDC-1350-60D3-1E78-410249337F86}"/>
              </a:ext>
            </a:extLst>
          </p:cNvPr>
          <p:cNvSpPr txBox="1"/>
          <p:nvPr/>
        </p:nvSpPr>
        <p:spPr>
          <a:xfrm>
            <a:off x="2473377" y="314793"/>
            <a:ext cx="205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PRODOTTO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FEE4F-3BE0-5C86-B6E7-4669273E3139}"/>
              </a:ext>
            </a:extLst>
          </p:cNvPr>
          <p:cNvSpPr txBox="1"/>
          <p:nvPr/>
        </p:nvSpPr>
        <p:spPr>
          <a:xfrm>
            <a:off x="7122826" y="314793"/>
            <a:ext cx="1813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FERMI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41E08B-FEF1-39BF-1A2E-9E10CBC3BEAB}"/>
              </a:ext>
            </a:extLst>
          </p:cNvPr>
          <p:cNvSpPr txBox="1"/>
          <p:nvPr/>
        </p:nvSpPr>
        <p:spPr>
          <a:xfrm>
            <a:off x="9597453" y="314793"/>
            <a:ext cx="259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Aptos" panose="020B0004020202020204" pitchFamily="34" charset="0"/>
              </a:rPr>
              <a:t>CONCLUSIONI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00CEF7-8B51-6D6A-860E-33781094073E}"/>
              </a:ext>
            </a:extLst>
          </p:cNvPr>
          <p:cNvSpPr/>
          <p:nvPr/>
        </p:nvSpPr>
        <p:spPr>
          <a:xfrm>
            <a:off x="10264727" y="821587"/>
            <a:ext cx="126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63E8714-EAF6-3CE2-E64B-181EE7C85B17}"/>
              </a:ext>
            </a:extLst>
          </p:cNvPr>
          <p:cNvSpPr txBox="1">
            <a:spLocks/>
          </p:cNvSpPr>
          <p:nvPr/>
        </p:nvSpPr>
        <p:spPr>
          <a:xfrm>
            <a:off x="3914931" y="1042431"/>
            <a:ext cx="4362138" cy="8463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Budget e spunti</a:t>
            </a:r>
          </a:p>
        </p:txBody>
      </p:sp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E3887829-D8EF-CE9D-42B6-277579A4F0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8795112"/>
              </p:ext>
            </p:extLst>
          </p:nvPr>
        </p:nvGraphicFramePr>
        <p:xfrm>
          <a:off x="0" y="2260340"/>
          <a:ext cx="12192000" cy="2611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FF19D3D-7042-9939-9AEE-F3F351CE3D6D}"/>
              </a:ext>
            </a:extLst>
          </p:cNvPr>
          <p:cNvSpPr txBox="1"/>
          <p:nvPr/>
        </p:nvSpPr>
        <p:spPr>
          <a:xfrm>
            <a:off x="1074295" y="5636301"/>
            <a:ext cx="10043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Berlin Sans FB" panose="020E0602020502020306" pitchFamily="34" charset="0"/>
              </a:rPr>
              <a:t>*Nota:</a:t>
            </a:r>
            <a:r>
              <a:rPr lang="it-IT" dirty="0">
                <a:latin typeface="Berlin Sans FB" panose="020E0602020502020306" pitchFamily="34" charset="0"/>
              </a:rPr>
              <a:t> per valutare l’ipotesi del taglio del turno notturno, sarebbe necessario uno studio dedicato. </a:t>
            </a:r>
          </a:p>
          <a:p>
            <a:pPr algn="ctr"/>
            <a:r>
              <a:rPr lang="it-IT" dirty="0">
                <a:latin typeface="Berlin Sans FB" panose="020E0602020502020306" pitchFamily="34" charset="0"/>
              </a:rPr>
              <a:t>In quel caso si potrebbe anche valutare l’acquisto di nuovi macchinari, se giustificassero l’investimento.</a:t>
            </a:r>
          </a:p>
        </p:txBody>
      </p:sp>
    </p:spTree>
    <p:extLst>
      <p:ext uri="{BB962C8B-B14F-4D97-AF65-F5344CB8AC3E}">
        <p14:creationId xmlns:p14="http://schemas.microsoft.com/office/powerpoint/2010/main" val="2945306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680</Words>
  <Application>Microsoft Office PowerPoint</Application>
  <PresentationFormat>Widescreen</PresentationFormat>
  <Paragraphs>212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Berlin Sans FB</vt:lpstr>
      <vt:lpstr>Berlin Sans FB Demi</vt:lpstr>
      <vt:lpstr>Calibri</vt:lpstr>
      <vt:lpstr>Calibri Light</vt:lpstr>
      <vt:lpstr>Office Theme</vt:lpstr>
      <vt:lpstr>PowerPoint Presentation</vt:lpstr>
      <vt:lpstr>Introduzione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Spada</dc:creator>
  <cp:lastModifiedBy>Daniele Spada</cp:lastModifiedBy>
  <cp:revision>27</cp:revision>
  <dcterms:created xsi:type="dcterms:W3CDTF">2026-10-21T12:30:03Z</dcterms:created>
  <dcterms:modified xsi:type="dcterms:W3CDTF">2026-10-23T09:35:55Z</dcterms:modified>
</cp:coreProperties>
</file>