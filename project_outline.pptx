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7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64F5-C6D7-61BC-4D11-1245FE4FD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F6610-4C26-1C26-5236-E513B89D2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7FD42-85F2-D54F-0DD5-A0826434E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91E2-31A7-6B01-C8C8-4ACCF033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94606-FEC3-709F-FF0D-DACB15E1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418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AA30-462B-6850-93E6-B6B5B2814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E669-5F79-61DB-CE35-E15B7D268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5A2D8-2BB3-E026-D5EA-B33B7A42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4D3D7-6FDB-2D86-AAC4-EC9875CF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BFA26-E33D-586F-083C-D1D6D0BC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971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BF88-F748-5FE2-E5E1-CF8C0792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A3989-1B11-91CE-4960-0CCFFCF96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848DB-F049-4BD3-B7EB-8BD72F7F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234DB-9A66-7308-A401-0E4D5091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32C1F-8A46-F3DC-4DD1-2D8C2922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406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823F-C4F6-9DA1-6FAA-70DA03EC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1AED7-FA2B-E495-A7A5-C8973D3FA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410A4-9BD9-26F0-31EB-D10675F0E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B95C7-0C1B-B774-B4AE-CF2FB1E0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57E23-2054-08AE-D849-C17883E2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5152-BDE8-4850-C5E8-3C0E1374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57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B99E-CF01-0EC1-C17C-546BDBA62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0FF9B-1D9F-1784-9C47-DA5A67BA8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2C8DF-3A01-96E2-A2EA-244E32547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095624-90DF-7DA8-BF30-FE49C57D1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4581B-951C-A8DC-3821-83F8CBC24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84602-25C9-FBEF-3A17-7C2798251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5F23E-5054-D78B-9E43-3B60D095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EECF6-68B3-1AB2-45F7-D42A6B48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252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7405-0E16-2F21-ED64-47EAF24D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A1C34-69DD-2295-A657-B7D9483C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F610E-2B44-EE34-C495-468B2173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B9AE8-3D7A-0B3D-FF1B-ADA24E02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473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2662D-A37C-989A-EDFC-20EA57EE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C8AF2-B8BC-9B50-713B-85EBD18C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5BED7-86E9-3220-E6D4-47DA8426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804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D3B7-C348-5A51-C734-341A4DB0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108BD-48D6-53A8-7EB5-CCD9C4C18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00DFA-9232-C8C1-8BB3-3272726CD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71079-D03B-044A-73B9-4FA3B37F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AE766-7AE7-E66E-15E9-B6E72708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0C551-6287-6444-ACD8-539407AF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052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2D752-9611-A050-A52D-A523EEFC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30038-8D67-2F42-5797-E3BF06E52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1459C-704A-107F-3A25-70D1D719C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3C434-E4BE-7DC0-14EF-6304BE36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CCA9E-3D02-C38C-A063-BF1B5888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74088-42B4-861A-E7D1-E39E8628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546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D372-0D94-3ED2-F429-DF97AC63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7454B-0FFA-DE95-55F5-CE2CECCE9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3E24-6AF6-B31D-5CE6-2588F29B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814E8-531F-175B-0B64-947DF212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B5F52-831F-7E3F-5202-234F9707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906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58599F-81B5-4A71-F9C1-995391E816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C12B5-1D1F-1897-19CC-D70E9F3D1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E66DF-6759-4B41-6841-23201BC1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01C21-B9DB-E4D0-EB6A-4DD4043FF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CD843-2001-B3B3-D30D-D176C167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0982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40000"/>
                <a:lumOff val="60000"/>
              </a:schemeClr>
            </a:gs>
            <a:gs pos="100000">
              <a:schemeClr val="bg1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90CAF-65A4-E051-6D8D-DE2C70CB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6A7CF-0710-3DA1-BDB0-CD1309339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B4B33-EFAF-5DF2-D29D-8F9C76B7B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C27A1-416E-4C80-A80B-4CBC042D8B5D}" type="datetimeFigureOut">
              <a:rPr lang="it-IT" smtClean="0"/>
              <a:t>26/10/2026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FB69B-EDF0-F0C2-9E66-852AD374A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4ABAC-D2F3-BF3C-8611-AF9610182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F8684-BF80-45D1-92EC-3A8CC5343C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6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9B3EF6-87E5-47AB-7753-91A79C57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8" t="23333" r="12375" b="35519"/>
          <a:stretch>
            <a:fillRect/>
          </a:stretch>
        </p:blipFill>
        <p:spPr>
          <a:xfrm>
            <a:off x="1523999" y="1600199"/>
            <a:ext cx="9143999" cy="2821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56F098-DC54-6A99-30F2-1BBCB89FF8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5400" b="1" dirty="0" err="1">
                <a:ln w="10160">
                  <a:solidFill>
                    <a:schemeClr val="bg1"/>
                  </a:solidFill>
                  <a:prstDash val="solid"/>
                </a:ln>
                <a:solidFill>
                  <a:srgbClr val="7A223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rlin Sans FB" panose="020E0602020502020306" pitchFamily="34" charset="0"/>
                <a:ea typeface="+mn-ea"/>
                <a:cs typeface="+mn-cs"/>
              </a:rPr>
              <a:t>Operational</a:t>
            </a:r>
            <a:r>
              <a:rPr lang="it-IT" sz="54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A223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rlin Sans FB" panose="020E0602020502020306" pitchFamily="34" charset="0"/>
                <a:ea typeface="+mn-ea"/>
                <a:cs typeface="+mn-cs"/>
              </a:rPr>
              <a:t> Analytics per un </a:t>
            </a:r>
            <a:r>
              <a:rPr lang="it-IT" sz="5400" b="1" dirty="0" err="1">
                <a:ln w="10160">
                  <a:solidFill>
                    <a:schemeClr val="bg1"/>
                  </a:solidFill>
                  <a:prstDash val="solid"/>
                </a:ln>
                <a:solidFill>
                  <a:srgbClr val="7A223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rlin Sans FB" panose="020E0602020502020306" pitchFamily="34" charset="0"/>
                <a:ea typeface="+mn-ea"/>
                <a:cs typeface="+mn-cs"/>
              </a:rPr>
              <a:t>bresaolificio</a:t>
            </a:r>
            <a:endParaRPr lang="it-IT" sz="5400" b="1" dirty="0">
              <a:ln w="10160">
                <a:solidFill>
                  <a:schemeClr val="bg1"/>
                </a:solidFill>
                <a:prstDash val="solid"/>
              </a:ln>
              <a:solidFill>
                <a:srgbClr val="7A2234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erlin Sans FB" panose="020E0602020502020306" pitchFamily="34" charset="0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34E69-E9A0-7769-1394-A591394B08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28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A2234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rlin Sans FB" panose="020E0602020502020306" pitchFamily="34" charset="0"/>
              </a:rPr>
              <a:t>Analisi degli scarti di produzione</a:t>
            </a:r>
          </a:p>
        </p:txBody>
      </p:sp>
    </p:spTree>
    <p:extLst>
      <p:ext uri="{BB962C8B-B14F-4D97-AF65-F5344CB8AC3E}">
        <p14:creationId xmlns:p14="http://schemas.microsoft.com/office/powerpoint/2010/main" val="323014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F3A1-7864-00C0-3310-D92AB840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Introduzione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73EF4-1667-44D8-8AB7-C655413F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514007"/>
            <a:ext cx="6580682" cy="466295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Valtellina Salumi S.r.l.</a:t>
            </a:r>
            <a:r>
              <a:rPr lang="it-IT" dirty="0">
                <a:latin typeface="Berlin Sans FB" panose="020E0602020502020306" pitchFamily="34" charset="0"/>
              </a:rPr>
              <a:t> </a:t>
            </a:r>
            <a:r>
              <a:rPr lang="it-IT" sz="1900" dirty="0">
                <a:latin typeface="Berlin Sans FB" panose="020E0602020502020306" pitchFamily="34" charset="0"/>
              </a:rPr>
              <a:t>(azienda interamente fittizia)</a:t>
            </a:r>
            <a:endParaRPr lang="it-IT" dirty="0">
              <a:latin typeface="Berlin Sans FB" panose="020E0602020502020306" pitchFamily="34" charset="0"/>
            </a:endParaRPr>
          </a:p>
          <a:p>
            <a:pPr marL="0" indent="0">
              <a:buNone/>
            </a:pPr>
            <a:r>
              <a:rPr lang="it-IT" dirty="0">
                <a:latin typeface="Berlin Sans FB" panose="020E0602020502020306" pitchFamily="34" charset="0"/>
              </a:rPr>
              <a:t>Un produttore di bresaola con un impianto industriale articolato e diverse famiglie di prodotti, rivendute in diverse regioni d’Italia:</a:t>
            </a:r>
          </a:p>
          <a:p>
            <a:pPr lvl="1"/>
            <a:r>
              <a:rPr lang="it-IT" sz="28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4 linee</a:t>
            </a:r>
            <a:r>
              <a:rPr lang="it-IT" sz="2800" dirty="0">
                <a:latin typeface="Berlin Sans FB" panose="020E0602020502020306" pitchFamily="34" charset="0"/>
              </a:rPr>
              <a:t> di produzione</a:t>
            </a:r>
          </a:p>
          <a:p>
            <a:pPr lvl="2"/>
            <a:r>
              <a:rPr lang="it-IT" sz="2800" dirty="0">
                <a:latin typeface="Berlin Sans FB" panose="020E0602020502020306" pitchFamily="34" charset="0"/>
              </a:rPr>
              <a:t>2 linee di affettamento</a:t>
            </a:r>
          </a:p>
          <a:p>
            <a:pPr lvl="2"/>
            <a:r>
              <a:rPr lang="it-IT" sz="2800" dirty="0">
                <a:latin typeface="Berlin Sans FB" panose="020E0602020502020306" pitchFamily="34" charset="0"/>
              </a:rPr>
              <a:t>2 linee di confezionamento</a:t>
            </a:r>
          </a:p>
          <a:p>
            <a:pPr lvl="1"/>
            <a:r>
              <a:rPr lang="it-IT" sz="28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4 famiglie</a:t>
            </a:r>
            <a:r>
              <a:rPr lang="it-IT" sz="2800" dirty="0">
                <a:latin typeface="Berlin Sans FB" panose="020E0602020502020306" pitchFamily="34" charset="0"/>
              </a:rPr>
              <a:t> di prodotti</a:t>
            </a:r>
          </a:p>
          <a:p>
            <a:pPr lvl="2"/>
            <a:r>
              <a:rPr lang="it-IT" sz="2800" dirty="0">
                <a:latin typeface="Berlin Sans FB" panose="020E0602020502020306" pitchFamily="34" charset="0"/>
              </a:rPr>
              <a:t>24 prodotti (6 formati per famiglia)</a:t>
            </a:r>
          </a:p>
          <a:p>
            <a:pPr lvl="1"/>
            <a:r>
              <a:rPr lang="it-IT" sz="28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1200 clienti</a:t>
            </a:r>
          </a:p>
          <a:p>
            <a:pPr lvl="2"/>
            <a:r>
              <a:rPr lang="it-IT" sz="2800" dirty="0">
                <a:latin typeface="Berlin Sans FB" panose="020E0602020502020306" pitchFamily="34" charset="0"/>
              </a:rPr>
              <a:t>10 regioni italiane</a:t>
            </a:r>
          </a:p>
          <a:p>
            <a:pPr lvl="1"/>
            <a:r>
              <a:rPr lang="it-IT" sz="2800" u="sng" dirty="0">
                <a:solidFill>
                  <a:srgbClr val="00B4D8"/>
                </a:solidFill>
                <a:latin typeface="Berlin Sans FB" panose="020E0602020502020306" pitchFamily="34" charset="0"/>
              </a:rPr>
              <a:t>2 anni</a:t>
            </a:r>
            <a:r>
              <a:rPr lang="it-IT" sz="2800" dirty="0">
                <a:latin typeface="Berlin Sans FB" panose="020E0602020502020306" pitchFamily="34" charset="0"/>
              </a:rPr>
              <a:t> di storico</a:t>
            </a:r>
          </a:p>
          <a:p>
            <a:pPr lvl="2"/>
            <a:r>
              <a:rPr lang="it-IT" sz="2800" dirty="0">
                <a:latin typeface="Berlin Sans FB" panose="020E0602020502020306" pitchFamily="34" charset="0"/>
              </a:rPr>
              <a:t>dal 1° gennaio 2024 al 31 dicembre 2025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8E90BA0-A03F-F83A-0A8A-825FAAFB250A}"/>
              </a:ext>
            </a:extLst>
          </p:cNvPr>
          <p:cNvGrpSpPr/>
          <p:nvPr/>
        </p:nvGrpSpPr>
        <p:grpSpPr>
          <a:xfrm>
            <a:off x="6580682" y="240936"/>
            <a:ext cx="5199089" cy="6376128"/>
            <a:chOff x="6580682" y="240936"/>
            <a:chExt cx="5199089" cy="6376128"/>
          </a:xfrm>
          <a:blipFill>
            <a:blip r:embed="rId2"/>
            <a:stretch>
              <a:fillRect/>
            </a:stretch>
          </a:blip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A802EC-3CE4-4C21-7BF3-73F92A5A1BE6}"/>
                </a:ext>
              </a:extLst>
            </p:cNvPr>
            <p:cNvSpPr/>
            <p:nvPr/>
          </p:nvSpPr>
          <p:spPr>
            <a:xfrm>
              <a:off x="6580682" y="445450"/>
              <a:ext cx="869429" cy="5967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06CE23-BDC5-6AE0-CE96-2F30E260FA45}"/>
                </a:ext>
              </a:extLst>
            </p:cNvPr>
            <p:cNvSpPr/>
            <p:nvPr/>
          </p:nvSpPr>
          <p:spPr>
            <a:xfrm>
              <a:off x="7663097" y="240936"/>
              <a:ext cx="869429" cy="63761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D29CAE-D871-7A5C-8C25-F59E44F1868C}"/>
                </a:ext>
              </a:extLst>
            </p:cNvPr>
            <p:cNvSpPr/>
            <p:nvPr/>
          </p:nvSpPr>
          <p:spPr>
            <a:xfrm>
              <a:off x="8745512" y="445450"/>
              <a:ext cx="869429" cy="5967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8F012C-D5F6-EEA5-2199-D6EE1E8FFD3F}"/>
                </a:ext>
              </a:extLst>
            </p:cNvPr>
            <p:cNvSpPr/>
            <p:nvPr/>
          </p:nvSpPr>
          <p:spPr>
            <a:xfrm>
              <a:off x="9827927" y="240936"/>
              <a:ext cx="869429" cy="63761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0347D96-2220-BA39-9E32-5B5911443BEC}"/>
                </a:ext>
              </a:extLst>
            </p:cNvPr>
            <p:cNvSpPr/>
            <p:nvPr/>
          </p:nvSpPr>
          <p:spPr>
            <a:xfrm>
              <a:off x="10910342" y="445450"/>
              <a:ext cx="869429" cy="59671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15804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CED4-91CE-BA8D-1F6C-9E13AC0B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Struttura dei dati aziendali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9BC878-1CF8-E45E-8665-6116D2EB8D6F}"/>
              </a:ext>
            </a:extLst>
          </p:cNvPr>
          <p:cNvSpPr/>
          <p:nvPr/>
        </p:nvSpPr>
        <p:spPr>
          <a:xfrm>
            <a:off x="3357796" y="5239063"/>
            <a:ext cx="1484026" cy="6445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Prodotti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3FC155-558E-76FC-D79C-F9A8D7E83764}"/>
              </a:ext>
            </a:extLst>
          </p:cNvPr>
          <p:cNvSpPr/>
          <p:nvPr/>
        </p:nvSpPr>
        <p:spPr>
          <a:xfrm>
            <a:off x="3357796" y="1690688"/>
            <a:ext cx="1484026" cy="6445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Linee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599233-0020-BD42-7EC2-DD819A5D12ED}"/>
              </a:ext>
            </a:extLst>
          </p:cNvPr>
          <p:cNvSpPr/>
          <p:nvPr/>
        </p:nvSpPr>
        <p:spPr>
          <a:xfrm>
            <a:off x="3357796" y="3429000"/>
            <a:ext cx="1484026" cy="6445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Produzione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0C307B-C32B-C186-439D-533171EA394C}"/>
              </a:ext>
            </a:extLst>
          </p:cNvPr>
          <p:cNvSpPr/>
          <p:nvPr/>
        </p:nvSpPr>
        <p:spPr>
          <a:xfrm>
            <a:off x="5353987" y="3429000"/>
            <a:ext cx="1484026" cy="6445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Controlli Qualità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934B58-0476-FFB4-47EC-CA8773C0E1D6}"/>
              </a:ext>
            </a:extLst>
          </p:cNvPr>
          <p:cNvSpPr/>
          <p:nvPr/>
        </p:nvSpPr>
        <p:spPr>
          <a:xfrm>
            <a:off x="1361605" y="3429000"/>
            <a:ext cx="1484026" cy="6445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Fermi macchina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CE836B-9A29-50EE-3432-790E2FDFB994}"/>
              </a:ext>
            </a:extLst>
          </p:cNvPr>
          <p:cNvSpPr/>
          <p:nvPr/>
        </p:nvSpPr>
        <p:spPr>
          <a:xfrm>
            <a:off x="9869774" y="2335266"/>
            <a:ext cx="1484026" cy="6445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Clienti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1B04A5-CCE0-9EE8-27BB-765E3D8383BB}"/>
              </a:ext>
            </a:extLst>
          </p:cNvPr>
          <p:cNvSpPr/>
          <p:nvPr/>
        </p:nvSpPr>
        <p:spPr>
          <a:xfrm>
            <a:off x="9869774" y="4786152"/>
            <a:ext cx="1484026" cy="6445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Movimenti magazzino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2FC14A-68E3-93C0-ADC9-9D8273D3B2F6}"/>
              </a:ext>
            </a:extLst>
          </p:cNvPr>
          <p:cNvSpPr/>
          <p:nvPr/>
        </p:nvSpPr>
        <p:spPr>
          <a:xfrm>
            <a:off x="9869774" y="3152228"/>
            <a:ext cx="1484026" cy="6445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Vendite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3F401D-C8B3-6BB0-3D31-79DA05F7AF78}"/>
              </a:ext>
            </a:extLst>
          </p:cNvPr>
          <p:cNvSpPr/>
          <p:nvPr/>
        </p:nvSpPr>
        <p:spPr>
          <a:xfrm>
            <a:off x="9869774" y="3969190"/>
            <a:ext cx="1484026" cy="6445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Berlin Sans FB" panose="020E0602020502020306" pitchFamily="34" charset="0"/>
              </a:rPr>
              <a:t>Bridge vendite-lotti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802F253-FCC1-DDEC-3959-75460AB7CC75}"/>
              </a:ext>
            </a:extLst>
          </p:cNvPr>
          <p:cNvCxnSpPr>
            <a:cxnSpLocks/>
            <a:stCxn id="7" idx="1"/>
            <a:endCxn id="10" idx="0"/>
          </p:cNvCxnSpPr>
          <p:nvPr/>
        </p:nvCxnSpPr>
        <p:spPr>
          <a:xfrm rot="10800000" flipV="1">
            <a:off x="2103618" y="2012976"/>
            <a:ext cx="1254178" cy="14160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3974BBC-F2ED-07D7-FD89-251ADCAF81EF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4841822" y="2012977"/>
            <a:ext cx="1254178" cy="14160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3421F9F-7FD8-0FEA-F2C0-187201719160}"/>
              </a:ext>
            </a:extLst>
          </p:cNvPr>
          <p:cNvCxnSpPr>
            <a:cxnSpLocks/>
            <a:stCxn id="6" idx="1"/>
            <a:endCxn id="10" idx="2"/>
          </p:cNvCxnSpPr>
          <p:nvPr/>
        </p:nvCxnSpPr>
        <p:spPr>
          <a:xfrm rot="10800000">
            <a:off x="2103618" y="4073578"/>
            <a:ext cx="1254178" cy="14877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32CB929-E901-98E8-5786-83751DE10E35}"/>
              </a:ext>
            </a:extLst>
          </p:cNvPr>
          <p:cNvCxnSpPr>
            <a:cxnSpLocks/>
            <a:stCxn id="6" idx="3"/>
            <a:endCxn id="9" idx="2"/>
          </p:cNvCxnSpPr>
          <p:nvPr/>
        </p:nvCxnSpPr>
        <p:spPr>
          <a:xfrm flipV="1">
            <a:off x="4841822" y="4073578"/>
            <a:ext cx="1254178" cy="14877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CA025A-FF4B-60C9-F453-C474DEB8A94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4099809" y="2335266"/>
            <a:ext cx="0" cy="109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F634BD4-3B3C-BFF4-6C54-9FA06EB0C8D2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flipV="1">
            <a:off x="4099809" y="4073578"/>
            <a:ext cx="0" cy="1165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885E023-C36B-46EB-165D-7B8F6086EFD2}"/>
              </a:ext>
            </a:extLst>
          </p:cNvPr>
          <p:cNvSpPr txBox="1"/>
          <p:nvPr/>
        </p:nvSpPr>
        <p:spPr>
          <a:xfrm>
            <a:off x="9469411" y="1447573"/>
            <a:ext cx="2284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Berlin Sans FB" panose="020E0602020502020306" pitchFamily="34" charset="0"/>
              </a:rPr>
              <a:t>Non utilizzate in questo progetto</a:t>
            </a:r>
          </a:p>
        </p:txBody>
      </p:sp>
    </p:spTree>
    <p:extLst>
      <p:ext uri="{BB962C8B-B14F-4D97-AF65-F5344CB8AC3E}">
        <p14:creationId xmlns:p14="http://schemas.microsoft.com/office/powerpoint/2010/main" val="284025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74BC3-19F7-2688-6B44-858EC7C4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2948-9348-079C-08E4-8684474F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Metriche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CC2BE-08F5-77D4-D9E3-A124A3299E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dirty="0">
                    <a:latin typeface="Berlin Sans FB" panose="020E0602020502020306" pitchFamily="34" charset="0"/>
                  </a:rPr>
                  <a:t>Resa produttiva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𝑟𝑒𝑠𝑎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𝑘𝑔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𝑠𝑐𝑎𝑟𝑡𝑜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𝑘𝑔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𝑖𝑛𝑝𝑢𝑡</m:t>
                        </m:r>
                      </m:den>
                    </m:f>
                  </m:oMath>
                </a14:m>
                <a:endParaRPr lang="it-IT" dirty="0">
                  <a:latin typeface="Berlin Sans FB" panose="020E0602020502020306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𝑐𝑜𝑠𝑡𝑜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𝑠𝑐𝑎𝑟𝑡𝑜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𝑠𝑐𝑎𝑟𝑡𝑜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𝑐𝑜𝑠𝑡𝑜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𝑚𝑎𝑡𝑒𝑟𝑖𝑎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𝑝𝑟𝑖𝑚𝑎</m:t>
                    </m:r>
                  </m:oMath>
                </a14:m>
                <a:r>
                  <a:rPr lang="it-IT" dirty="0">
                    <a:latin typeface="Berlin Sans FB" panose="020E0602020502020306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it-IT" dirty="0">
                  <a:latin typeface="Berlin Sans FB" panose="020E0602020502020306" pitchFamily="34" charset="0"/>
                </a:endParaRPr>
              </a:p>
              <a:p>
                <a:pPr marL="0" indent="0">
                  <a:buNone/>
                </a:pPr>
                <a:r>
                  <a:rPr lang="it-IT" dirty="0">
                    <a:latin typeface="Berlin Sans FB" panose="020E0602020502020306" pitchFamily="34" charset="0"/>
                  </a:rPr>
                  <a:t>Controllo Qualità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𝑛𝑜𝑛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𝑐𝑜𝑛𝑓𝑜𝑟𝑚𝑖𝑡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à= </m:t>
                    </m:r>
                    <m:f>
                      <m:fPr>
                        <m:type m:val="skw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𝑙𝑜𝑡𝑡𝑖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𝑐𝑜𝑛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𝑑𝑖𝑓𝑒𝑡𝑡𝑖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𝑙𝑜𝑡𝑡𝑖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𝑐𝑜𝑛𝑡𝑟𝑜𝑙𝑙𝑎𝑡𝑖</m:t>
                        </m:r>
                      </m:den>
                    </m:f>
                  </m:oMath>
                </a14:m>
                <a:endParaRPr lang="it-IT" dirty="0">
                  <a:latin typeface="Berlin Sans FB" panose="020E0602020502020306" pitchFamily="34" charset="0"/>
                </a:endParaRPr>
              </a:p>
              <a:p>
                <a:pPr lvl="1"/>
                <a:endParaRPr lang="it-IT" dirty="0">
                  <a:latin typeface="Berlin Sans FB" panose="020E0602020502020306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CC2BE-08F5-77D4-D9E3-A124A3299E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Bar graph with upward trend">
            <a:extLst>
              <a:ext uri="{FF2B5EF4-FFF2-40B4-BE49-F238E27FC236}">
                <a16:creationId xmlns:a16="http://schemas.microsoft.com/office/drawing/2014/main" id="{E2A5E4F1-ED4D-93A3-12CB-34FF278DE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4110" y="3604857"/>
            <a:ext cx="1440000" cy="1440000"/>
          </a:xfrm>
          <a:prstGeom prst="rect">
            <a:avLst/>
          </a:prstGeom>
        </p:spPr>
      </p:pic>
      <p:pic>
        <p:nvPicPr>
          <p:cNvPr id="7" name="Graphic 6" descr="Gauge">
            <a:extLst>
              <a:ext uri="{FF2B5EF4-FFF2-40B4-BE49-F238E27FC236}">
                <a16:creationId xmlns:a16="http://schemas.microsoft.com/office/drawing/2014/main" id="{76EECF89-11A9-CD0A-31A9-1C72B2CB1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4110" y="1813144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72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11816-B1DD-3378-F2BA-4259E332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05B7-AA46-055B-439B-6FAE31BD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rgbClr val="7A2234"/>
                </a:solidFill>
                <a:latin typeface="Berlin Sans FB" panose="020E0602020502020306" pitchFamily="34" charset="0"/>
              </a:rPr>
              <a:t>Domande di business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30B20C-EECF-C083-000F-4606C9496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604333"/>
              </p:ext>
            </p:extLst>
          </p:nvPr>
        </p:nvGraphicFramePr>
        <p:xfrm>
          <a:off x="838200" y="1481480"/>
          <a:ext cx="7076607" cy="5011395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489616">
                  <a:extLst>
                    <a:ext uri="{9D8B030D-6E8A-4147-A177-3AD203B41FA5}">
                      <a16:colId xmlns:a16="http://schemas.microsoft.com/office/drawing/2014/main" val="2721068761"/>
                    </a:ext>
                  </a:extLst>
                </a:gridCol>
                <a:gridCol w="4586991">
                  <a:extLst>
                    <a:ext uri="{9D8B030D-6E8A-4147-A177-3AD203B41FA5}">
                      <a16:colId xmlns:a16="http://schemas.microsoft.com/office/drawing/2014/main" val="347053584"/>
                    </a:ext>
                  </a:extLst>
                </a:gridCol>
              </a:tblGrid>
              <a:tr h="9114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3200" kern="100" dirty="0">
                          <a:effectLst/>
                        </a:rPr>
                        <a:t>Fonte dati</a:t>
                      </a:r>
                      <a:endParaRPr lang="it-IT" sz="32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3200" kern="100" dirty="0">
                          <a:effectLst/>
                        </a:rPr>
                        <a:t>Domande aziendali</a:t>
                      </a:r>
                      <a:endParaRPr lang="it-IT" sz="32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extLst>
                  <a:ext uri="{0D108BD9-81ED-4DB2-BD59-A6C34878D82A}">
                    <a16:rowId xmlns:a16="http://schemas.microsoft.com/office/drawing/2014/main" val="2301102820"/>
                  </a:ext>
                </a:extLst>
              </a:tr>
              <a:tr h="9114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2000" kern="100" dirty="0">
                          <a:effectLst/>
                        </a:rPr>
                        <a:t>Produzione</a:t>
                      </a:r>
                      <a:endParaRPr lang="it-IT" sz="20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Quali linee hanno resa inferiore?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Su che prodotti?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I target di produzione vengono rispettati?</a:t>
                      </a:r>
                      <a:endParaRPr lang="it-IT" sz="16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extLst>
                  <a:ext uri="{0D108BD9-81ED-4DB2-BD59-A6C34878D82A}">
                    <a16:rowId xmlns:a16="http://schemas.microsoft.com/office/drawing/2014/main" val="3586466223"/>
                  </a:ext>
                </a:extLst>
              </a:tr>
              <a:tr h="9114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2000" kern="100" dirty="0">
                          <a:effectLst/>
                        </a:rPr>
                        <a:t>Controlli Qualità</a:t>
                      </a:r>
                      <a:endParaRPr lang="it-IT" sz="20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Quanti lotti sono non conformi?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Su che macchine/famiglie si concentrano i difetti?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Che tipologie di difetti si trovano più spesso?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Ci sono dei trend?</a:t>
                      </a:r>
                      <a:endParaRPr lang="it-IT" sz="16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extLst>
                  <a:ext uri="{0D108BD9-81ED-4DB2-BD59-A6C34878D82A}">
                    <a16:rowId xmlns:a16="http://schemas.microsoft.com/office/drawing/2014/main" val="1497367485"/>
                  </a:ext>
                </a:extLst>
              </a:tr>
              <a:tr h="9114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it-IT" sz="2000" kern="100" dirty="0">
                          <a:effectLst/>
                        </a:rPr>
                        <a:t>Fermi macchina</a:t>
                      </a:r>
                      <a:endParaRPr lang="it-IT" sz="20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Quanti fermi macchina ci sono? Quanto durano?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Su che macchine/famiglie si concentrano?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A cosa sono dovuti?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it-IT" sz="1600" kern="100" dirty="0">
                          <a:effectLst/>
                        </a:rPr>
                        <a:t>Ci sono dei trend?</a:t>
                      </a:r>
                      <a:endParaRPr lang="it-IT" sz="1600" kern="100" dirty="0">
                        <a:effectLst/>
                        <a:latin typeface="Berlin Sans FB" panose="020E0602020502020306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76200" marB="76200" anchor="ctr"/>
                </a:tc>
                <a:extLst>
                  <a:ext uri="{0D108BD9-81ED-4DB2-BD59-A6C34878D82A}">
                    <a16:rowId xmlns:a16="http://schemas.microsoft.com/office/drawing/2014/main" val="37345833"/>
                  </a:ext>
                </a:extLst>
              </a:tr>
            </a:tbl>
          </a:graphicData>
        </a:graphic>
      </p:graphicFrame>
      <p:pic>
        <p:nvPicPr>
          <p:cNvPr id="5" name="Graphic 4" descr="Question mark">
            <a:extLst>
              <a:ext uri="{FF2B5EF4-FFF2-40B4-BE49-F238E27FC236}">
                <a16:creationId xmlns:a16="http://schemas.microsoft.com/office/drawing/2014/main" id="{3D0A5B85-94E5-1FEA-BF83-817F80257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800" y="2547177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0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217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Berlin Sans FB</vt:lpstr>
      <vt:lpstr>Calibri</vt:lpstr>
      <vt:lpstr>Calibri Light</vt:lpstr>
      <vt:lpstr>Cambria Math</vt:lpstr>
      <vt:lpstr>Office Theme</vt:lpstr>
      <vt:lpstr>Operational Analytics per un bresaolificio</vt:lpstr>
      <vt:lpstr>Introduzione</vt:lpstr>
      <vt:lpstr>Struttura dei dati aziendali</vt:lpstr>
      <vt:lpstr>Metriche</vt:lpstr>
      <vt:lpstr>Domande di business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Spada</dc:creator>
  <cp:lastModifiedBy>Daniele Spada</cp:lastModifiedBy>
  <cp:revision>13</cp:revision>
  <dcterms:created xsi:type="dcterms:W3CDTF">2026-10-19T14:43:13Z</dcterms:created>
  <dcterms:modified xsi:type="dcterms:W3CDTF">2026-10-26T14:37:29Z</dcterms:modified>
</cp:coreProperties>
</file>